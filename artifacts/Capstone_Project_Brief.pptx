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w="12700">
            <a:solidFill>
              <a:srgbClr val="38BDF8"/>
            </a:solidFill>
            <a:prstDash val="solid"/>
          </a:ln>
        </p:spPr>
      </p:sp>
      <p:sp>
        <p:nvSpPr>
          <p:cNvPr id="3" name="Text 1"/>
          <p:cNvSpPr/>
          <p:nvPr/>
        </p:nvSpPr>
        <p:spPr>
          <a:xfrm>
            <a:off x="411480" y="201168"/>
            <a:ext cx="8321040" cy="237744"/>
          </a:xfrm>
          <a:prstGeom prst="rect">
            <a:avLst/>
          </a:prstGeom>
          <a:noFill/>
          <a:ln/>
        </p:spPr>
        <p:txBody>
          <a:bodyPr wrap="square" lIns="0" tIns="0" rIns="0" bIns="0" rtlCol="0" anchor="ctr"/>
          <a:lstStyle/>
          <a:p>
            <a:pPr indent="0" marL="0">
              <a:buNone/>
            </a:pPr>
            <a:r>
              <a:rPr lang="en-US" sz="1100" b="1" spc="120" kern="0" dirty="0">
                <a:solidFill>
                  <a:srgbClr val="38BDF8"/>
                </a:solidFill>
                <a:latin typeface="Calibri" pitchFamily="34" charset="0"/>
                <a:ea typeface="Calibri" pitchFamily="34" charset="-122"/>
                <a:cs typeface="Calibri" pitchFamily="34" charset="-120"/>
              </a:rPr>
              <a:t>CAPSTONE  ·  AIR TRAFFIC SURVEILLANCE</a:t>
            </a:r>
            <a:endParaRPr lang="en-US" sz="1100" dirty="0"/>
          </a:p>
        </p:txBody>
      </p:sp>
      <p:sp>
        <p:nvSpPr>
          <p:cNvPr id="4" name="Text 2"/>
          <p:cNvSpPr/>
          <p:nvPr/>
        </p:nvSpPr>
        <p:spPr>
          <a:xfrm>
            <a:off x="411480" y="438912"/>
            <a:ext cx="832104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Business Problem Statement</a:t>
            </a:r>
            <a:endParaRPr lang="en-US" sz="2800" dirty="0"/>
          </a:p>
        </p:txBody>
      </p:sp>
      <p:sp>
        <p:nvSpPr>
          <p:cNvPr id="5" name="Text 3"/>
          <p:cNvSpPr/>
          <p:nvPr/>
        </p:nvSpPr>
        <p:spPr>
          <a:xfrm>
            <a:off x="411480" y="18288"/>
            <a:ext cx="5852160" cy="164592"/>
          </a:xfrm>
          <a:prstGeom prst="rect">
            <a:avLst/>
          </a:prstGeom>
          <a:noFill/>
          <a:ln/>
        </p:spPr>
        <p:txBody>
          <a:bodyPr wrap="square" lIns="0" tIns="0" rIns="0" bIns="0" rtlCol="0" anchor="ctr"/>
          <a:lstStyle/>
          <a:p>
            <a:pPr indent="0" marL="0">
              <a:buNone/>
            </a:pPr>
            <a:r>
              <a:rPr lang="en-US" sz="800" b="1" dirty="0">
                <a:solidFill>
                  <a:srgbClr val="FECACA"/>
                </a:solidFill>
                <a:latin typeface="Calibri" pitchFamily="34" charset="0"/>
                <a:ea typeface="Calibri" pitchFamily="34" charset="-122"/>
                <a:cs typeface="Calibri" pitchFamily="34" charset="-120"/>
              </a:rPr>
              <a:t>LOCKHEED MARTIN PROPRIETARY INFORMATION</a:t>
            </a:r>
            <a:endParaRPr lang="en-US" sz="800" dirty="0"/>
          </a:p>
        </p:txBody>
      </p:sp>
      <p:sp>
        <p:nvSpPr>
          <p:cNvPr id="6" name="Text 4"/>
          <p:cNvSpPr/>
          <p:nvPr/>
        </p:nvSpPr>
        <p:spPr>
          <a:xfrm>
            <a:off x="411480" y="4919472"/>
            <a:ext cx="749808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Thomas Rathbun, PhD  ·  LOCKHEED MARTIN PROPRIETARY INFORMATION</a:t>
            </a:r>
            <a:endParaRPr lang="en-US" sz="900" dirty="0"/>
          </a:p>
        </p:txBody>
      </p:sp>
      <p:sp>
        <p:nvSpPr>
          <p:cNvPr id="7" name="Shape 5"/>
          <p:cNvSpPr/>
          <p:nvPr/>
        </p:nvSpPr>
        <p:spPr>
          <a:xfrm>
            <a:off x="411480" y="1051560"/>
            <a:ext cx="8321040" cy="960120"/>
          </a:xfrm>
          <a:prstGeom prst="roundRect">
            <a:avLst>
              <a:gd name="adj" fmla="val 7619"/>
            </a:avLst>
          </a:prstGeom>
          <a:solidFill>
            <a:srgbClr val="172033"/>
          </a:solidFill>
          <a:ln w="12700">
            <a:solidFill>
              <a:srgbClr val="334155"/>
            </a:solidFill>
            <a:prstDash val="solid"/>
          </a:ln>
        </p:spPr>
      </p:sp>
      <p:sp>
        <p:nvSpPr>
          <p:cNvPr id="8" name="Text 6"/>
          <p:cNvSpPr/>
          <p:nvPr/>
        </p:nvSpPr>
        <p:spPr>
          <a:xfrm>
            <a:off x="594360" y="1170432"/>
            <a:ext cx="7955280" cy="731520"/>
          </a:xfrm>
          <a:prstGeom prst="rect">
            <a:avLst/>
          </a:prstGeom>
          <a:noFill/>
          <a:ln/>
        </p:spPr>
        <p:txBody>
          <a:bodyPr wrap="square" lIns="0" tIns="0" rIns="0" bIns="0" rtlCol="0" anchor="ctr"/>
          <a:lstStyle/>
          <a:p>
            <a:pPr indent="0" marL="0">
              <a:buNone/>
            </a:pPr>
            <a:r>
              <a:rPr lang="en-US" sz="1300" dirty="0">
                <a:solidFill>
                  <a:srgbClr val="A8C5E2"/>
                </a:solidFill>
                <a:latin typeface="Calibri" pitchFamily="34" charset="0"/>
                <a:ea typeface="Calibri" pitchFamily="34" charset="-122"/>
                <a:cs typeface="Calibri" pitchFamily="34" charset="-120"/>
              </a:rPr>
              <a:t>Air traffic surveillance still depends on a fragmented pipeline: each radar runs its own tracker, then a separate correlator tries to resolve duplicates across sensors. That design is costly to maintain, slow to adapt to clutter and sensor bias, and hard to scale as airspace density and multi-radar coverage grow.</a:t>
            </a:r>
            <a:endParaRPr lang="en-US" sz="1300" dirty="0"/>
          </a:p>
        </p:txBody>
      </p:sp>
      <p:sp>
        <p:nvSpPr>
          <p:cNvPr id="9" name="Shape 7"/>
          <p:cNvSpPr/>
          <p:nvPr/>
        </p:nvSpPr>
        <p:spPr>
          <a:xfrm>
            <a:off x="411480" y="2194560"/>
            <a:ext cx="2697480" cy="1828800"/>
          </a:xfrm>
          <a:prstGeom prst="roundRect">
            <a:avLst>
              <a:gd name="adj" fmla="val 4000"/>
            </a:avLst>
          </a:prstGeom>
          <a:solidFill>
            <a:srgbClr val="172033"/>
          </a:solidFill>
          <a:ln w="12700">
            <a:solidFill>
              <a:srgbClr val="334155"/>
            </a:solidFill>
            <a:prstDash val="solid"/>
          </a:ln>
        </p:spPr>
      </p:sp>
      <p:sp>
        <p:nvSpPr>
          <p:cNvPr id="10" name="Shape 8"/>
          <p:cNvSpPr/>
          <p:nvPr/>
        </p:nvSpPr>
        <p:spPr>
          <a:xfrm>
            <a:off x="411480" y="2194560"/>
            <a:ext cx="2697480" cy="64008"/>
          </a:xfrm>
          <a:prstGeom prst="rect">
            <a:avLst/>
          </a:prstGeom>
          <a:solidFill>
            <a:srgbClr val="38BDF8"/>
          </a:solidFill>
          <a:ln w="12700">
            <a:solidFill>
              <a:srgbClr val="38BDF8"/>
            </a:solidFill>
            <a:prstDash val="solid"/>
          </a:ln>
        </p:spPr>
      </p:sp>
      <p:sp>
        <p:nvSpPr>
          <p:cNvPr id="11" name="Text 9"/>
          <p:cNvSpPr/>
          <p:nvPr/>
        </p:nvSpPr>
        <p:spPr>
          <a:xfrm>
            <a:off x="576072" y="2359152"/>
            <a:ext cx="548640" cy="256032"/>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01</a:t>
            </a:r>
            <a:endParaRPr lang="en-US" sz="1200" dirty="0"/>
          </a:p>
        </p:txBody>
      </p:sp>
      <p:sp>
        <p:nvSpPr>
          <p:cNvPr id="12" name="Text 10"/>
          <p:cNvSpPr/>
          <p:nvPr/>
        </p:nvSpPr>
        <p:spPr>
          <a:xfrm>
            <a:off x="576072" y="2651760"/>
            <a:ext cx="23774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Operational Complexity</a:t>
            </a:r>
            <a:endParaRPr lang="en-US" sz="1400" dirty="0"/>
          </a:p>
        </p:txBody>
      </p:sp>
      <p:sp>
        <p:nvSpPr>
          <p:cNvPr id="13" name="Text 11"/>
          <p:cNvSpPr/>
          <p:nvPr/>
        </p:nvSpPr>
        <p:spPr>
          <a:xfrm>
            <a:off x="576072" y="3017520"/>
            <a:ext cx="2377440" cy="8686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Per-sensor physics trackers plus a downstream correlator create many failure points, hand-tuned gates, and high sustainment cost.</a:t>
            </a:r>
            <a:endParaRPr lang="en-US" sz="1200" dirty="0"/>
          </a:p>
        </p:txBody>
      </p:sp>
      <p:sp>
        <p:nvSpPr>
          <p:cNvPr id="14" name="Shape 12"/>
          <p:cNvSpPr/>
          <p:nvPr/>
        </p:nvSpPr>
        <p:spPr>
          <a:xfrm>
            <a:off x="3246120" y="2194560"/>
            <a:ext cx="2697480" cy="1828800"/>
          </a:xfrm>
          <a:prstGeom prst="roundRect">
            <a:avLst>
              <a:gd name="adj" fmla="val 4000"/>
            </a:avLst>
          </a:prstGeom>
          <a:solidFill>
            <a:srgbClr val="172033"/>
          </a:solidFill>
          <a:ln w="12700">
            <a:solidFill>
              <a:srgbClr val="334155"/>
            </a:solidFill>
            <a:prstDash val="solid"/>
          </a:ln>
        </p:spPr>
      </p:sp>
      <p:sp>
        <p:nvSpPr>
          <p:cNvPr id="15" name="Shape 13"/>
          <p:cNvSpPr/>
          <p:nvPr/>
        </p:nvSpPr>
        <p:spPr>
          <a:xfrm>
            <a:off x="3246120" y="2194560"/>
            <a:ext cx="2697480" cy="64008"/>
          </a:xfrm>
          <a:prstGeom prst="rect">
            <a:avLst/>
          </a:prstGeom>
          <a:solidFill>
            <a:srgbClr val="F59E0B"/>
          </a:solidFill>
          <a:ln w="12700">
            <a:solidFill>
              <a:srgbClr val="F59E0B"/>
            </a:solidFill>
            <a:prstDash val="solid"/>
          </a:ln>
        </p:spPr>
      </p:sp>
      <p:sp>
        <p:nvSpPr>
          <p:cNvPr id="16" name="Text 14"/>
          <p:cNvSpPr/>
          <p:nvPr/>
        </p:nvSpPr>
        <p:spPr>
          <a:xfrm>
            <a:off x="3410712" y="2359152"/>
            <a:ext cx="548640" cy="256032"/>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02</a:t>
            </a:r>
            <a:endParaRPr lang="en-US" sz="1200" dirty="0"/>
          </a:p>
        </p:txBody>
      </p:sp>
      <p:sp>
        <p:nvSpPr>
          <p:cNvPr id="17" name="Text 15"/>
          <p:cNvSpPr/>
          <p:nvPr/>
        </p:nvSpPr>
        <p:spPr>
          <a:xfrm>
            <a:off x="3410712" y="2651760"/>
            <a:ext cx="23774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Fusion Ambiguity</a:t>
            </a:r>
            <a:endParaRPr lang="en-US" sz="1400" dirty="0"/>
          </a:p>
        </p:txBody>
      </p:sp>
      <p:sp>
        <p:nvSpPr>
          <p:cNvPr id="18" name="Text 16"/>
          <p:cNvSpPr/>
          <p:nvPr/>
        </p:nvSpPr>
        <p:spPr>
          <a:xfrm>
            <a:off x="3410712" y="3017520"/>
            <a:ext cx="2377440" cy="8686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PSR clutter, SSR intermittency, registration bias, and asynchronous scans produce duplicate tracks and ID switches.</a:t>
            </a:r>
            <a:endParaRPr lang="en-US" sz="1200" dirty="0"/>
          </a:p>
        </p:txBody>
      </p:sp>
      <p:sp>
        <p:nvSpPr>
          <p:cNvPr id="19" name="Shape 17"/>
          <p:cNvSpPr/>
          <p:nvPr/>
        </p:nvSpPr>
        <p:spPr>
          <a:xfrm>
            <a:off x="6080760" y="2194560"/>
            <a:ext cx="2697480" cy="1828800"/>
          </a:xfrm>
          <a:prstGeom prst="roundRect">
            <a:avLst>
              <a:gd name="adj" fmla="val 4000"/>
            </a:avLst>
          </a:prstGeom>
          <a:solidFill>
            <a:srgbClr val="172033"/>
          </a:solidFill>
          <a:ln w="12700">
            <a:solidFill>
              <a:srgbClr val="334155"/>
            </a:solidFill>
            <a:prstDash val="solid"/>
          </a:ln>
        </p:spPr>
      </p:sp>
      <p:sp>
        <p:nvSpPr>
          <p:cNvPr id="20" name="Shape 18"/>
          <p:cNvSpPr/>
          <p:nvPr/>
        </p:nvSpPr>
        <p:spPr>
          <a:xfrm>
            <a:off x="6080760" y="2194560"/>
            <a:ext cx="2697480" cy="64008"/>
          </a:xfrm>
          <a:prstGeom prst="rect">
            <a:avLst/>
          </a:prstGeom>
          <a:solidFill>
            <a:srgbClr val="38BDF8"/>
          </a:solidFill>
          <a:ln w="12700">
            <a:solidFill>
              <a:srgbClr val="38BDF8"/>
            </a:solidFill>
            <a:prstDash val="solid"/>
          </a:ln>
        </p:spPr>
      </p:sp>
      <p:sp>
        <p:nvSpPr>
          <p:cNvPr id="21" name="Text 19"/>
          <p:cNvSpPr/>
          <p:nvPr/>
        </p:nvSpPr>
        <p:spPr>
          <a:xfrm>
            <a:off x="6245352" y="2359152"/>
            <a:ext cx="548640" cy="256032"/>
          </a:xfrm>
          <a:prstGeom prst="rect">
            <a:avLst/>
          </a:prstGeom>
          <a:noFill/>
          <a:ln/>
        </p:spPr>
        <p:txBody>
          <a:bodyPr wrap="square" lIns="0" tIns="0" rIns="0" bIns="0" rtlCol="0" anchor="ctr"/>
          <a:lstStyle/>
          <a:p>
            <a:pPr indent="0" marL="0">
              <a:buNone/>
            </a:pPr>
            <a:r>
              <a:rPr lang="en-US" sz="1200" b="1" dirty="0">
                <a:solidFill>
                  <a:srgbClr val="38BDF8"/>
                </a:solidFill>
                <a:latin typeface="Consolas" pitchFamily="34" charset="0"/>
                <a:ea typeface="Consolas" pitchFamily="34" charset="-122"/>
                <a:cs typeface="Consolas" pitchFamily="34" charset="-120"/>
              </a:rPr>
              <a:t>03</a:t>
            </a:r>
            <a:endParaRPr lang="en-US" sz="1200" dirty="0"/>
          </a:p>
        </p:txBody>
      </p:sp>
      <p:sp>
        <p:nvSpPr>
          <p:cNvPr id="22" name="Text 20"/>
          <p:cNvSpPr/>
          <p:nvPr/>
        </p:nvSpPr>
        <p:spPr>
          <a:xfrm>
            <a:off x="6245352" y="2651760"/>
            <a:ext cx="237744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Limited Adaptivity</a:t>
            </a:r>
            <a:endParaRPr lang="en-US" sz="1400" dirty="0"/>
          </a:p>
        </p:txBody>
      </p:sp>
      <p:sp>
        <p:nvSpPr>
          <p:cNvPr id="23" name="Text 21"/>
          <p:cNvSpPr/>
          <p:nvPr/>
        </p:nvSpPr>
        <p:spPr>
          <a:xfrm>
            <a:off x="6245352" y="3017520"/>
            <a:ext cx="2377440" cy="86868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Rule-based association does not learn from data and struggles with non-linear maneuvers and novel clutter without expert re-tuning.</a:t>
            </a:r>
            <a:endParaRPr lang="en-US" sz="1200" dirty="0"/>
          </a:p>
        </p:txBody>
      </p:sp>
      <p:sp>
        <p:nvSpPr>
          <p:cNvPr id="24" name="Text 22"/>
          <p:cNvSpPr/>
          <p:nvPr/>
        </p:nvSpPr>
        <p:spPr>
          <a:xfrm>
            <a:off x="411480" y="4206240"/>
            <a:ext cx="8321040" cy="320040"/>
          </a:xfrm>
          <a:prstGeom prst="rect">
            <a:avLst/>
          </a:prstGeom>
          <a:noFill/>
          <a:ln/>
        </p:spPr>
        <p:txBody>
          <a:bodyPr wrap="square" lIns="0" tIns="0" rIns="0" bIns="0" rtlCol="0" anchor="ctr"/>
          <a:lstStyle/>
          <a:p>
            <a:pPr indent="0" marL="0">
              <a:buNone/>
            </a:pPr>
            <a:r>
              <a:rPr lang="en-US" sz="1200" i="1" dirty="0">
                <a:solidFill>
                  <a:srgbClr val="A8C5E2"/>
                </a:solidFill>
                <a:latin typeface="Calibri" pitchFamily="34" charset="0"/>
                <a:ea typeface="Calibri" pitchFamily="34" charset="-122"/>
                <a:cs typeface="Calibri" pitchFamily="34" charset="-120"/>
              </a:rPr>
              <a:t>Opportunity: Evaluate a unified AI/ML tracker-correlator that simplifies the stack while meeting operational tracking quality.</a:t>
            </a:r>
            <a:endParaRPr lang="en-US" sz="1200" dirty="0"/>
          </a:p>
        </p:txBody>
      </p:sp>
      <p:sp>
        <p:nvSpPr>
          <p:cNvPr id="25" name="Text 23"/>
          <p:cNvSpPr/>
          <p:nvPr/>
        </p:nvSpPr>
        <p:spPr>
          <a:xfrm>
            <a:off x="7955280" y="4800600"/>
            <a:ext cx="822960" cy="22860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1 / 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w="12700">
            <a:solidFill>
              <a:srgbClr val="38BDF8"/>
            </a:solidFill>
            <a:prstDash val="solid"/>
          </a:ln>
        </p:spPr>
      </p:sp>
      <p:sp>
        <p:nvSpPr>
          <p:cNvPr id="3" name="Text 1"/>
          <p:cNvSpPr/>
          <p:nvPr/>
        </p:nvSpPr>
        <p:spPr>
          <a:xfrm>
            <a:off x="411480" y="201168"/>
            <a:ext cx="8321040" cy="237744"/>
          </a:xfrm>
          <a:prstGeom prst="rect">
            <a:avLst/>
          </a:prstGeom>
          <a:noFill/>
          <a:ln/>
        </p:spPr>
        <p:txBody>
          <a:bodyPr wrap="square" lIns="0" tIns="0" rIns="0" bIns="0" rtlCol="0" anchor="ctr"/>
          <a:lstStyle/>
          <a:p>
            <a:pPr indent="0" marL="0">
              <a:buNone/>
            </a:pPr>
            <a:r>
              <a:rPr lang="en-US" sz="1100" b="1" spc="120" kern="0" dirty="0">
                <a:solidFill>
                  <a:srgbClr val="38BDF8"/>
                </a:solidFill>
                <a:latin typeface="Calibri" pitchFamily="34" charset="0"/>
                <a:ea typeface="Calibri" pitchFamily="34" charset="-122"/>
                <a:cs typeface="Calibri" pitchFamily="34" charset="-120"/>
              </a:rPr>
              <a:t>CAPSTONE  ·  AIR TRAFFIC SURVEILLANCE</a:t>
            </a:r>
            <a:endParaRPr lang="en-US" sz="1100" dirty="0"/>
          </a:p>
        </p:txBody>
      </p:sp>
      <p:sp>
        <p:nvSpPr>
          <p:cNvPr id="4" name="Text 2"/>
          <p:cNvSpPr/>
          <p:nvPr/>
        </p:nvSpPr>
        <p:spPr>
          <a:xfrm>
            <a:off x="411480" y="438912"/>
            <a:ext cx="832104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Proposed Solution</a:t>
            </a:r>
            <a:endParaRPr lang="en-US" sz="2800" dirty="0"/>
          </a:p>
        </p:txBody>
      </p:sp>
      <p:sp>
        <p:nvSpPr>
          <p:cNvPr id="5" name="Text 3"/>
          <p:cNvSpPr/>
          <p:nvPr/>
        </p:nvSpPr>
        <p:spPr>
          <a:xfrm>
            <a:off x="411480" y="18288"/>
            <a:ext cx="5852160" cy="164592"/>
          </a:xfrm>
          <a:prstGeom prst="rect">
            <a:avLst/>
          </a:prstGeom>
          <a:noFill/>
          <a:ln/>
        </p:spPr>
        <p:txBody>
          <a:bodyPr wrap="square" lIns="0" tIns="0" rIns="0" bIns="0" rtlCol="0" anchor="ctr"/>
          <a:lstStyle/>
          <a:p>
            <a:pPr indent="0" marL="0">
              <a:buNone/>
            </a:pPr>
            <a:r>
              <a:rPr lang="en-US" sz="800" b="1" dirty="0">
                <a:solidFill>
                  <a:srgbClr val="FECACA"/>
                </a:solidFill>
                <a:latin typeface="Calibri" pitchFamily="34" charset="0"/>
                <a:ea typeface="Calibri" pitchFamily="34" charset="-122"/>
                <a:cs typeface="Calibri" pitchFamily="34" charset="-120"/>
              </a:rPr>
              <a:t>LOCKHEED MARTIN PROPRIETARY INFORMATION</a:t>
            </a:r>
            <a:endParaRPr lang="en-US" sz="800" dirty="0"/>
          </a:p>
        </p:txBody>
      </p:sp>
      <p:sp>
        <p:nvSpPr>
          <p:cNvPr id="6" name="Text 4"/>
          <p:cNvSpPr/>
          <p:nvPr/>
        </p:nvSpPr>
        <p:spPr>
          <a:xfrm>
            <a:off x="411480" y="4919472"/>
            <a:ext cx="749808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Thomas Rathbun, PhD  ·  LOCKHEED MARTIN PROPRIETARY INFORMATION</a:t>
            </a:r>
            <a:endParaRPr lang="en-US" sz="900" dirty="0"/>
          </a:p>
        </p:txBody>
      </p:sp>
      <p:sp>
        <p:nvSpPr>
          <p:cNvPr id="7" name="Shape 5"/>
          <p:cNvSpPr/>
          <p:nvPr/>
        </p:nvSpPr>
        <p:spPr>
          <a:xfrm>
            <a:off x="411480" y="1051560"/>
            <a:ext cx="8321040" cy="658368"/>
          </a:xfrm>
          <a:prstGeom prst="roundRect">
            <a:avLst>
              <a:gd name="adj" fmla="val 11111"/>
            </a:avLst>
          </a:prstGeom>
          <a:solidFill>
            <a:srgbClr val="172033"/>
          </a:solidFill>
          <a:ln w="12700">
            <a:solidFill>
              <a:srgbClr val="334155"/>
            </a:solidFill>
            <a:prstDash val="solid"/>
          </a:ln>
        </p:spPr>
      </p:sp>
      <p:sp>
        <p:nvSpPr>
          <p:cNvPr id="8" name="Text 6"/>
          <p:cNvSpPr/>
          <p:nvPr/>
        </p:nvSpPr>
        <p:spPr>
          <a:xfrm>
            <a:off x="594360" y="1143000"/>
            <a:ext cx="7955280" cy="502920"/>
          </a:xfrm>
          <a:prstGeom prst="rect">
            <a:avLst/>
          </a:prstGeom>
          <a:noFill/>
          <a:ln/>
        </p:spPr>
        <p:txBody>
          <a:bodyPr wrap="square" lIns="0" tIns="0" rIns="0" bIns="0" rtlCol="0" anchor="ctr"/>
          <a:lstStyle/>
          <a:p>
            <a:pPr indent="0" marL="0">
              <a:buNone/>
            </a:pPr>
            <a:r>
              <a:rPr lang="en-US" sz="1300" dirty="0">
                <a:solidFill>
                  <a:srgbClr val="A8C5E2"/>
                </a:solidFill>
                <a:latin typeface="Calibri" pitchFamily="34" charset="0"/>
                <a:ea typeface="Calibri" pitchFamily="34" charset="-122"/>
                <a:cs typeface="Calibri" pitchFamily="34" charset="-120"/>
              </a:rPr>
              <a:t>A hybrid AI/ML tracker-correlator that ingests multi-sensor radar plots (PSR/SSR), learns association and clutter rejection, and produces a single correlated track picture—keeping physics-based state estimation where it is strongest.</a:t>
            </a:r>
            <a:endParaRPr lang="en-US" sz="1300" dirty="0"/>
          </a:p>
        </p:txBody>
      </p:sp>
      <p:sp>
        <p:nvSpPr>
          <p:cNvPr id="9" name="Shape 7"/>
          <p:cNvSpPr/>
          <p:nvPr/>
        </p:nvSpPr>
        <p:spPr>
          <a:xfrm>
            <a:off x="411480" y="1920240"/>
            <a:ext cx="2011680" cy="1965960"/>
          </a:xfrm>
          <a:prstGeom prst="roundRect">
            <a:avLst>
              <a:gd name="adj" fmla="val 3721"/>
            </a:avLst>
          </a:prstGeom>
          <a:solidFill>
            <a:srgbClr val="172033"/>
          </a:solidFill>
          <a:ln w="12700">
            <a:solidFill>
              <a:srgbClr val="334155"/>
            </a:solidFill>
            <a:prstDash val="solid"/>
          </a:ln>
        </p:spPr>
      </p:sp>
      <p:sp>
        <p:nvSpPr>
          <p:cNvPr id="10" name="Shape 8"/>
          <p:cNvSpPr/>
          <p:nvPr/>
        </p:nvSpPr>
        <p:spPr>
          <a:xfrm>
            <a:off x="411480" y="1920240"/>
            <a:ext cx="2011680" cy="64008"/>
          </a:xfrm>
          <a:prstGeom prst="rect">
            <a:avLst/>
          </a:prstGeom>
          <a:solidFill>
            <a:srgbClr val="38BDF8"/>
          </a:solidFill>
          <a:ln w="12700">
            <a:solidFill>
              <a:srgbClr val="38BDF8"/>
            </a:solidFill>
            <a:prstDash val="solid"/>
          </a:ln>
        </p:spPr>
      </p:sp>
      <p:sp>
        <p:nvSpPr>
          <p:cNvPr id="11" name="Shape 9"/>
          <p:cNvSpPr/>
          <p:nvPr/>
        </p:nvSpPr>
        <p:spPr>
          <a:xfrm>
            <a:off x="576072" y="2103120"/>
            <a:ext cx="347472" cy="347472"/>
          </a:xfrm>
          <a:prstGeom prst="ellipse">
            <a:avLst/>
          </a:prstGeom>
          <a:solidFill>
            <a:srgbClr val="38BDF8"/>
          </a:solidFill>
          <a:ln w="12700">
            <a:solidFill>
              <a:srgbClr val="38BDF8"/>
            </a:solidFill>
            <a:prstDash val="solid"/>
          </a:ln>
        </p:spPr>
      </p:sp>
      <p:sp>
        <p:nvSpPr>
          <p:cNvPr id="12" name="Text 10"/>
          <p:cNvSpPr/>
          <p:nvPr/>
        </p:nvSpPr>
        <p:spPr>
          <a:xfrm>
            <a:off x="576072" y="2130552"/>
            <a:ext cx="347472" cy="320040"/>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1</a:t>
            </a:r>
            <a:endParaRPr lang="en-US" sz="1400" dirty="0"/>
          </a:p>
        </p:txBody>
      </p:sp>
      <p:sp>
        <p:nvSpPr>
          <p:cNvPr id="13" name="Text 11"/>
          <p:cNvSpPr/>
          <p:nvPr/>
        </p:nvSpPr>
        <p:spPr>
          <a:xfrm>
            <a:off x="576072" y="2606040"/>
            <a:ext cx="169164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Clutter Filter</a:t>
            </a:r>
            <a:endParaRPr lang="en-US" sz="1300" dirty="0"/>
          </a:p>
        </p:txBody>
      </p:sp>
      <p:sp>
        <p:nvSpPr>
          <p:cNvPr id="14" name="Text 12"/>
          <p:cNvSpPr/>
          <p:nvPr/>
        </p:nvSpPr>
        <p:spPr>
          <a:xfrm>
            <a:off x="576072" y="3063240"/>
            <a:ext cx="1691640" cy="6858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Unary MLP scores false alarms early to cut noise before association.</a:t>
            </a:r>
            <a:endParaRPr lang="en-US" sz="1100" dirty="0"/>
          </a:p>
        </p:txBody>
      </p:sp>
      <p:sp>
        <p:nvSpPr>
          <p:cNvPr id="15" name="Shape 13"/>
          <p:cNvSpPr/>
          <p:nvPr/>
        </p:nvSpPr>
        <p:spPr>
          <a:xfrm>
            <a:off x="2560320" y="1920240"/>
            <a:ext cx="2011680" cy="1965960"/>
          </a:xfrm>
          <a:prstGeom prst="roundRect">
            <a:avLst>
              <a:gd name="adj" fmla="val 3721"/>
            </a:avLst>
          </a:prstGeom>
          <a:solidFill>
            <a:srgbClr val="172033"/>
          </a:solidFill>
          <a:ln w="12700">
            <a:solidFill>
              <a:srgbClr val="334155"/>
            </a:solidFill>
            <a:prstDash val="solid"/>
          </a:ln>
        </p:spPr>
      </p:sp>
      <p:sp>
        <p:nvSpPr>
          <p:cNvPr id="16" name="Shape 14"/>
          <p:cNvSpPr/>
          <p:nvPr/>
        </p:nvSpPr>
        <p:spPr>
          <a:xfrm>
            <a:off x="2560320" y="1920240"/>
            <a:ext cx="2011680" cy="64008"/>
          </a:xfrm>
          <a:prstGeom prst="rect">
            <a:avLst/>
          </a:prstGeom>
          <a:solidFill>
            <a:srgbClr val="38BDF8"/>
          </a:solidFill>
          <a:ln w="12700">
            <a:solidFill>
              <a:srgbClr val="38BDF8"/>
            </a:solidFill>
            <a:prstDash val="solid"/>
          </a:ln>
        </p:spPr>
      </p:sp>
      <p:sp>
        <p:nvSpPr>
          <p:cNvPr id="17" name="Shape 15"/>
          <p:cNvSpPr/>
          <p:nvPr/>
        </p:nvSpPr>
        <p:spPr>
          <a:xfrm>
            <a:off x="2724912" y="2103120"/>
            <a:ext cx="347472" cy="347472"/>
          </a:xfrm>
          <a:prstGeom prst="ellipse">
            <a:avLst/>
          </a:prstGeom>
          <a:solidFill>
            <a:srgbClr val="38BDF8"/>
          </a:solidFill>
          <a:ln w="12700">
            <a:solidFill>
              <a:srgbClr val="38BDF8"/>
            </a:solidFill>
            <a:prstDash val="solid"/>
          </a:ln>
        </p:spPr>
      </p:sp>
      <p:sp>
        <p:nvSpPr>
          <p:cNvPr id="18" name="Text 16"/>
          <p:cNvSpPr/>
          <p:nvPr/>
        </p:nvSpPr>
        <p:spPr>
          <a:xfrm>
            <a:off x="2724912" y="2130552"/>
            <a:ext cx="347472" cy="320040"/>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2</a:t>
            </a:r>
            <a:endParaRPr lang="en-US" sz="1400" dirty="0"/>
          </a:p>
        </p:txBody>
      </p:sp>
      <p:sp>
        <p:nvSpPr>
          <p:cNvPr id="19" name="Text 17"/>
          <p:cNvSpPr/>
          <p:nvPr/>
        </p:nvSpPr>
        <p:spPr>
          <a:xfrm>
            <a:off x="2724912" y="2606040"/>
            <a:ext cx="169164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Learned Association</a:t>
            </a:r>
            <a:endParaRPr lang="en-US" sz="1300" dirty="0"/>
          </a:p>
        </p:txBody>
      </p:sp>
      <p:sp>
        <p:nvSpPr>
          <p:cNvPr id="20" name="Text 18"/>
          <p:cNvSpPr/>
          <p:nvPr/>
        </p:nvSpPr>
        <p:spPr>
          <a:xfrm>
            <a:off x="2724912" y="3063240"/>
            <a:ext cx="1691640" cy="6858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Dual pairwise classifiers (PSR kinematics + SSR identity) fuse multi-sensor reports.</a:t>
            </a:r>
            <a:endParaRPr lang="en-US" sz="1100" dirty="0"/>
          </a:p>
        </p:txBody>
      </p:sp>
      <p:sp>
        <p:nvSpPr>
          <p:cNvPr id="21" name="Shape 19"/>
          <p:cNvSpPr/>
          <p:nvPr/>
        </p:nvSpPr>
        <p:spPr>
          <a:xfrm>
            <a:off x="4709160" y="1920240"/>
            <a:ext cx="2011680" cy="1965960"/>
          </a:xfrm>
          <a:prstGeom prst="roundRect">
            <a:avLst>
              <a:gd name="adj" fmla="val 3721"/>
            </a:avLst>
          </a:prstGeom>
          <a:solidFill>
            <a:srgbClr val="172033"/>
          </a:solidFill>
          <a:ln w="12700">
            <a:solidFill>
              <a:srgbClr val="334155"/>
            </a:solidFill>
            <a:prstDash val="solid"/>
          </a:ln>
        </p:spPr>
      </p:sp>
      <p:sp>
        <p:nvSpPr>
          <p:cNvPr id="22" name="Shape 20"/>
          <p:cNvSpPr/>
          <p:nvPr/>
        </p:nvSpPr>
        <p:spPr>
          <a:xfrm>
            <a:off x="4709160" y="1920240"/>
            <a:ext cx="2011680" cy="64008"/>
          </a:xfrm>
          <a:prstGeom prst="rect">
            <a:avLst/>
          </a:prstGeom>
          <a:solidFill>
            <a:srgbClr val="38BDF8"/>
          </a:solidFill>
          <a:ln w="12700">
            <a:solidFill>
              <a:srgbClr val="38BDF8"/>
            </a:solidFill>
            <a:prstDash val="solid"/>
          </a:ln>
        </p:spPr>
      </p:sp>
      <p:sp>
        <p:nvSpPr>
          <p:cNvPr id="23" name="Shape 21"/>
          <p:cNvSpPr/>
          <p:nvPr/>
        </p:nvSpPr>
        <p:spPr>
          <a:xfrm>
            <a:off x="4873752" y="2103120"/>
            <a:ext cx="347472" cy="347472"/>
          </a:xfrm>
          <a:prstGeom prst="ellipse">
            <a:avLst/>
          </a:prstGeom>
          <a:solidFill>
            <a:srgbClr val="38BDF8"/>
          </a:solidFill>
          <a:ln w="12700">
            <a:solidFill>
              <a:srgbClr val="38BDF8"/>
            </a:solidFill>
            <a:prstDash val="solid"/>
          </a:ln>
        </p:spPr>
      </p:sp>
      <p:sp>
        <p:nvSpPr>
          <p:cNvPr id="24" name="Text 22"/>
          <p:cNvSpPr/>
          <p:nvPr/>
        </p:nvSpPr>
        <p:spPr>
          <a:xfrm>
            <a:off x="4873752" y="2130552"/>
            <a:ext cx="347472" cy="320040"/>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3</a:t>
            </a:r>
            <a:endParaRPr lang="en-US" sz="1400" dirty="0"/>
          </a:p>
        </p:txBody>
      </p:sp>
      <p:sp>
        <p:nvSpPr>
          <p:cNvPr id="25" name="Text 23"/>
          <p:cNvSpPr/>
          <p:nvPr/>
        </p:nvSpPr>
        <p:spPr>
          <a:xfrm>
            <a:off x="4873752" y="2606040"/>
            <a:ext cx="169164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Async Kalman Update</a:t>
            </a:r>
            <a:endParaRPr lang="en-US" sz="1300" dirty="0"/>
          </a:p>
        </p:txBody>
      </p:sp>
      <p:sp>
        <p:nvSpPr>
          <p:cNvPr id="26" name="Text 24"/>
          <p:cNvSpPr/>
          <p:nvPr/>
        </p:nvSpPr>
        <p:spPr>
          <a:xfrm>
            <a:off x="4873752" y="3063240"/>
            <a:ext cx="1691640" cy="6858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Exact-time prediction/update removes temporal dragging across staggered scans.</a:t>
            </a:r>
            <a:endParaRPr lang="en-US" sz="1100" dirty="0"/>
          </a:p>
        </p:txBody>
      </p:sp>
      <p:sp>
        <p:nvSpPr>
          <p:cNvPr id="27" name="Shape 25"/>
          <p:cNvSpPr/>
          <p:nvPr/>
        </p:nvSpPr>
        <p:spPr>
          <a:xfrm>
            <a:off x="6858000" y="1920240"/>
            <a:ext cx="2011680" cy="1965960"/>
          </a:xfrm>
          <a:prstGeom prst="roundRect">
            <a:avLst>
              <a:gd name="adj" fmla="val 3721"/>
            </a:avLst>
          </a:prstGeom>
          <a:solidFill>
            <a:srgbClr val="172033"/>
          </a:solidFill>
          <a:ln w="12700">
            <a:solidFill>
              <a:srgbClr val="334155"/>
            </a:solidFill>
            <a:prstDash val="solid"/>
          </a:ln>
        </p:spPr>
      </p:sp>
      <p:sp>
        <p:nvSpPr>
          <p:cNvPr id="28" name="Shape 26"/>
          <p:cNvSpPr/>
          <p:nvPr/>
        </p:nvSpPr>
        <p:spPr>
          <a:xfrm>
            <a:off x="6858000" y="1920240"/>
            <a:ext cx="2011680" cy="64008"/>
          </a:xfrm>
          <a:prstGeom prst="rect">
            <a:avLst/>
          </a:prstGeom>
          <a:solidFill>
            <a:srgbClr val="38BDF8"/>
          </a:solidFill>
          <a:ln w="12700">
            <a:solidFill>
              <a:srgbClr val="38BDF8"/>
            </a:solidFill>
            <a:prstDash val="solid"/>
          </a:ln>
        </p:spPr>
      </p:sp>
      <p:sp>
        <p:nvSpPr>
          <p:cNvPr id="29" name="Shape 27"/>
          <p:cNvSpPr/>
          <p:nvPr/>
        </p:nvSpPr>
        <p:spPr>
          <a:xfrm>
            <a:off x="7022592" y="2103120"/>
            <a:ext cx="347472" cy="347472"/>
          </a:xfrm>
          <a:prstGeom prst="ellipse">
            <a:avLst/>
          </a:prstGeom>
          <a:solidFill>
            <a:srgbClr val="38BDF8"/>
          </a:solidFill>
          <a:ln w="12700">
            <a:solidFill>
              <a:srgbClr val="38BDF8"/>
            </a:solidFill>
            <a:prstDash val="solid"/>
          </a:ln>
        </p:spPr>
      </p:sp>
      <p:sp>
        <p:nvSpPr>
          <p:cNvPr id="30" name="Text 28"/>
          <p:cNvSpPr/>
          <p:nvPr/>
        </p:nvSpPr>
        <p:spPr>
          <a:xfrm>
            <a:off x="7022592" y="2130552"/>
            <a:ext cx="347472" cy="320040"/>
          </a:xfrm>
          <a:prstGeom prst="rect">
            <a:avLst/>
          </a:prstGeom>
          <a:noFill/>
          <a:ln/>
        </p:spPr>
        <p:txBody>
          <a:bodyPr wrap="square" lIns="0" tIns="0" rIns="0" bIns="0" rtlCol="0" anchor="ctr"/>
          <a:lstStyle/>
          <a:p>
            <a:pPr algn="ctr" indent="0" marL="0">
              <a:buNone/>
            </a:pPr>
            <a:r>
              <a:rPr lang="en-US" sz="1400" b="1" dirty="0">
                <a:solidFill>
                  <a:srgbClr val="0B1220"/>
                </a:solidFill>
                <a:latin typeface="Calibri" pitchFamily="34" charset="0"/>
                <a:ea typeface="Calibri" pitchFamily="34" charset="-122"/>
                <a:cs typeface="Calibri" pitchFamily="34" charset="-120"/>
              </a:rPr>
              <a:t>4</a:t>
            </a:r>
            <a:endParaRPr lang="en-US" sz="1400" dirty="0"/>
          </a:p>
        </p:txBody>
      </p:sp>
      <p:sp>
        <p:nvSpPr>
          <p:cNvPr id="31" name="Text 29"/>
          <p:cNvSpPr/>
          <p:nvPr/>
        </p:nvSpPr>
        <p:spPr>
          <a:xfrm>
            <a:off x="7022592" y="2606040"/>
            <a:ext cx="1691640" cy="41148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Track Management</a:t>
            </a:r>
            <a:endParaRPr lang="en-US" sz="1300" dirty="0"/>
          </a:p>
        </p:txBody>
      </p:sp>
      <p:sp>
        <p:nvSpPr>
          <p:cNvPr id="32" name="Text 30"/>
          <p:cNvSpPr/>
          <p:nvPr/>
        </p:nvSpPr>
        <p:spPr>
          <a:xfrm>
            <a:off x="7022592" y="3063240"/>
            <a:ext cx="1691640" cy="685800"/>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M/N initiation, coasting, and de-duplicated correlated outputs.</a:t>
            </a:r>
            <a:endParaRPr lang="en-US" sz="1100" dirty="0"/>
          </a:p>
        </p:txBody>
      </p:sp>
      <p:sp>
        <p:nvSpPr>
          <p:cNvPr id="33" name="Text 31"/>
          <p:cNvSpPr/>
          <p:nvPr/>
        </p:nvSpPr>
        <p:spPr>
          <a:xfrm>
            <a:off x="411480" y="4114800"/>
            <a:ext cx="8321040" cy="365760"/>
          </a:xfrm>
          <a:prstGeom prst="rect">
            <a:avLst/>
          </a:prstGeom>
          <a:noFill/>
          <a:ln/>
        </p:spPr>
        <p:txBody>
          <a:bodyPr wrap="square" lIns="0" tIns="0" rIns="0" bIns="0" rtlCol="0" anchor="ctr"/>
          <a:lstStyle/>
          <a:p>
            <a:pPr indent="0" marL="0">
              <a:buNone/>
            </a:pPr>
            <a:r>
              <a:rPr lang="en-US" sz="1200" i="1" dirty="0">
                <a:solidFill>
                  <a:srgbClr val="A8C5E2"/>
                </a:solidFill>
                <a:latin typeface="Calibri" pitchFamily="34" charset="0"/>
                <a:ea typeface="Calibri" pitchFamily="34" charset="-122"/>
                <a:cs typeface="Calibri" pitchFamily="34" charset="-120"/>
              </a:rPr>
              <a:t>Research path: pairwise + hybrid baseline → assess pure GNN/transformer correlator feasibility → document recommendations for production path.</a:t>
            </a:r>
            <a:endParaRPr lang="en-US" sz="1200" dirty="0"/>
          </a:p>
        </p:txBody>
      </p:sp>
      <p:sp>
        <p:nvSpPr>
          <p:cNvPr id="34" name="Text 32"/>
          <p:cNvSpPr/>
          <p:nvPr/>
        </p:nvSpPr>
        <p:spPr>
          <a:xfrm>
            <a:off x="7955280" y="4800600"/>
            <a:ext cx="822960" cy="22860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2 / 7</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w="12700">
            <a:solidFill>
              <a:srgbClr val="38BDF8"/>
            </a:solidFill>
            <a:prstDash val="solid"/>
          </a:ln>
        </p:spPr>
      </p:sp>
      <p:sp>
        <p:nvSpPr>
          <p:cNvPr id="3" name="Text 1"/>
          <p:cNvSpPr/>
          <p:nvPr/>
        </p:nvSpPr>
        <p:spPr>
          <a:xfrm>
            <a:off x="411480" y="201168"/>
            <a:ext cx="8321040" cy="237744"/>
          </a:xfrm>
          <a:prstGeom prst="rect">
            <a:avLst/>
          </a:prstGeom>
          <a:noFill/>
          <a:ln/>
        </p:spPr>
        <p:txBody>
          <a:bodyPr wrap="square" lIns="0" tIns="0" rIns="0" bIns="0" rtlCol="0" anchor="ctr"/>
          <a:lstStyle/>
          <a:p>
            <a:pPr indent="0" marL="0">
              <a:buNone/>
            </a:pPr>
            <a:r>
              <a:rPr lang="en-US" sz="1100" b="1" spc="120" kern="0" dirty="0">
                <a:solidFill>
                  <a:srgbClr val="38BDF8"/>
                </a:solidFill>
                <a:latin typeface="Calibri" pitchFamily="34" charset="0"/>
                <a:ea typeface="Calibri" pitchFamily="34" charset="-122"/>
                <a:cs typeface="Calibri" pitchFamily="34" charset="-120"/>
              </a:rPr>
              <a:t>CAPSTONE  ·  AIR TRAFFIC SURVEILLANCE</a:t>
            </a:r>
            <a:endParaRPr lang="en-US" sz="1100" dirty="0"/>
          </a:p>
        </p:txBody>
      </p:sp>
      <p:sp>
        <p:nvSpPr>
          <p:cNvPr id="4" name="Text 2"/>
          <p:cNvSpPr/>
          <p:nvPr/>
        </p:nvSpPr>
        <p:spPr>
          <a:xfrm>
            <a:off x="411480" y="438912"/>
            <a:ext cx="832104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ROI Calculation / Value Statement</a:t>
            </a:r>
            <a:endParaRPr lang="en-US" sz="2800" dirty="0"/>
          </a:p>
        </p:txBody>
      </p:sp>
      <p:sp>
        <p:nvSpPr>
          <p:cNvPr id="5" name="Text 3"/>
          <p:cNvSpPr/>
          <p:nvPr/>
        </p:nvSpPr>
        <p:spPr>
          <a:xfrm>
            <a:off x="411480" y="18288"/>
            <a:ext cx="5852160" cy="164592"/>
          </a:xfrm>
          <a:prstGeom prst="rect">
            <a:avLst/>
          </a:prstGeom>
          <a:noFill/>
          <a:ln/>
        </p:spPr>
        <p:txBody>
          <a:bodyPr wrap="square" lIns="0" tIns="0" rIns="0" bIns="0" rtlCol="0" anchor="ctr"/>
          <a:lstStyle/>
          <a:p>
            <a:pPr indent="0" marL="0">
              <a:buNone/>
            </a:pPr>
            <a:r>
              <a:rPr lang="en-US" sz="800" b="1" dirty="0">
                <a:solidFill>
                  <a:srgbClr val="FECACA"/>
                </a:solidFill>
                <a:latin typeface="Calibri" pitchFamily="34" charset="0"/>
                <a:ea typeface="Calibri" pitchFamily="34" charset="-122"/>
                <a:cs typeface="Calibri" pitchFamily="34" charset="-120"/>
              </a:rPr>
              <a:t>LOCKHEED MARTIN PROPRIETARY INFORMATION</a:t>
            </a:r>
            <a:endParaRPr lang="en-US" sz="800" dirty="0"/>
          </a:p>
        </p:txBody>
      </p:sp>
      <p:sp>
        <p:nvSpPr>
          <p:cNvPr id="6" name="Text 4"/>
          <p:cNvSpPr/>
          <p:nvPr/>
        </p:nvSpPr>
        <p:spPr>
          <a:xfrm>
            <a:off x="411480" y="4919472"/>
            <a:ext cx="749808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Thomas Rathbun, PhD  ·  LOCKHEED MARTIN PROPRIETARY INFORMATION</a:t>
            </a:r>
            <a:endParaRPr lang="en-US" sz="900" dirty="0"/>
          </a:p>
        </p:txBody>
      </p:sp>
      <p:sp>
        <p:nvSpPr>
          <p:cNvPr id="7" name="Shape 5"/>
          <p:cNvSpPr/>
          <p:nvPr/>
        </p:nvSpPr>
        <p:spPr>
          <a:xfrm>
            <a:off x="411480" y="1051560"/>
            <a:ext cx="8321040" cy="594360"/>
          </a:xfrm>
          <a:prstGeom prst="roundRect">
            <a:avLst>
              <a:gd name="adj" fmla="val 12308"/>
            </a:avLst>
          </a:prstGeom>
          <a:solidFill>
            <a:srgbClr val="172033"/>
          </a:solidFill>
          <a:ln w="12700">
            <a:solidFill>
              <a:srgbClr val="334155"/>
            </a:solidFill>
            <a:prstDash val="solid"/>
          </a:ln>
        </p:spPr>
      </p:sp>
      <p:sp>
        <p:nvSpPr>
          <p:cNvPr id="8" name="Text 6"/>
          <p:cNvSpPr/>
          <p:nvPr/>
        </p:nvSpPr>
        <p:spPr>
          <a:xfrm>
            <a:off x="594360" y="1143000"/>
            <a:ext cx="7955280" cy="438912"/>
          </a:xfrm>
          <a:prstGeom prst="rect">
            <a:avLst/>
          </a:prstGeom>
          <a:noFill/>
          <a:ln/>
        </p:spPr>
        <p:txBody>
          <a:bodyPr wrap="square" lIns="0" tIns="0" rIns="0" bIns="0" rtlCol="0" anchor="ctr"/>
          <a:lstStyle/>
          <a:p>
            <a:pPr indent="0" marL="0">
              <a:buNone/>
            </a:pPr>
            <a:r>
              <a:rPr lang="en-US" sz="1300" dirty="0">
                <a:solidFill>
                  <a:srgbClr val="A8C5E2"/>
                </a:solidFill>
                <a:latin typeface="Calibri" pitchFamily="34" charset="0"/>
                <a:ea typeface="Calibri" pitchFamily="34" charset="-122"/>
                <a:cs typeface="Calibri" pitchFamily="34" charset="-120"/>
              </a:rPr>
              <a:t>This is a feasibility capstone: value is measured in reduced system complexity, tracking quality, and a clear go / no-go path—not immediate product revenue.</a:t>
            </a:r>
            <a:endParaRPr lang="en-US" sz="1300" dirty="0"/>
          </a:p>
        </p:txBody>
      </p:sp>
      <p:sp>
        <p:nvSpPr>
          <p:cNvPr id="9" name="Shape 7"/>
          <p:cNvSpPr/>
          <p:nvPr/>
        </p:nvSpPr>
        <p:spPr>
          <a:xfrm>
            <a:off x="411480" y="1828800"/>
            <a:ext cx="2697480" cy="2331720"/>
          </a:xfrm>
          <a:prstGeom prst="roundRect">
            <a:avLst>
              <a:gd name="adj" fmla="val 3137"/>
            </a:avLst>
          </a:prstGeom>
          <a:solidFill>
            <a:srgbClr val="172033"/>
          </a:solidFill>
          <a:ln w="12700">
            <a:solidFill>
              <a:srgbClr val="334155"/>
            </a:solidFill>
            <a:prstDash val="solid"/>
          </a:ln>
        </p:spPr>
      </p:sp>
      <p:sp>
        <p:nvSpPr>
          <p:cNvPr id="10" name="Shape 8"/>
          <p:cNvSpPr/>
          <p:nvPr/>
        </p:nvSpPr>
        <p:spPr>
          <a:xfrm>
            <a:off x="411480" y="1828800"/>
            <a:ext cx="2697480" cy="64008"/>
          </a:xfrm>
          <a:prstGeom prst="rect">
            <a:avLst/>
          </a:prstGeom>
          <a:solidFill>
            <a:srgbClr val="38BDF8"/>
          </a:solidFill>
          <a:ln w="12700">
            <a:solidFill>
              <a:srgbClr val="38BDF8"/>
            </a:solidFill>
            <a:prstDash val="solid"/>
          </a:ln>
        </p:spPr>
      </p:sp>
      <p:sp>
        <p:nvSpPr>
          <p:cNvPr id="11" name="Text 9"/>
          <p:cNvSpPr/>
          <p:nvPr/>
        </p:nvSpPr>
        <p:spPr>
          <a:xfrm>
            <a:off x="576072" y="2011680"/>
            <a:ext cx="23774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Engineering Efficiency</a:t>
            </a:r>
            <a:endParaRPr lang="en-US" sz="1400" dirty="0"/>
          </a:p>
        </p:txBody>
      </p:sp>
      <p:sp>
        <p:nvSpPr>
          <p:cNvPr id="12" name="Text 10"/>
          <p:cNvSpPr/>
          <p:nvPr/>
        </p:nvSpPr>
        <p:spPr>
          <a:xfrm>
            <a:off x="548640" y="2468880"/>
            <a:ext cx="2423160" cy="1508760"/>
          </a:xfrm>
          <a:prstGeom prst="rect">
            <a:avLst/>
          </a:prstGeom>
          <a:noFill/>
          <a:ln/>
        </p:spPr>
        <p:txBody>
          <a:bodyPr wrap="square" lIns="0" tIns="0" rIns="0" bIns="0" rtlCol="0" anchor="t"/>
          <a:lstStyle/>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Fewer hand-tuned association gates per sensor suite</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One fused pipeline vs. N trackers + correlator</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Reusable evaluation harness (MOTA, ID switches)</a:t>
            </a:r>
            <a:endParaRPr lang="en-US" sz="1100" dirty="0"/>
          </a:p>
        </p:txBody>
      </p:sp>
      <p:sp>
        <p:nvSpPr>
          <p:cNvPr id="13" name="Shape 11"/>
          <p:cNvSpPr/>
          <p:nvPr/>
        </p:nvSpPr>
        <p:spPr>
          <a:xfrm>
            <a:off x="3246120" y="1828800"/>
            <a:ext cx="2697480" cy="2331720"/>
          </a:xfrm>
          <a:prstGeom prst="roundRect">
            <a:avLst>
              <a:gd name="adj" fmla="val 3137"/>
            </a:avLst>
          </a:prstGeom>
          <a:solidFill>
            <a:srgbClr val="172033"/>
          </a:solidFill>
          <a:ln w="12700">
            <a:solidFill>
              <a:srgbClr val="334155"/>
            </a:solidFill>
            <a:prstDash val="solid"/>
          </a:ln>
        </p:spPr>
      </p:sp>
      <p:sp>
        <p:nvSpPr>
          <p:cNvPr id="14" name="Shape 12"/>
          <p:cNvSpPr/>
          <p:nvPr/>
        </p:nvSpPr>
        <p:spPr>
          <a:xfrm>
            <a:off x="3246120" y="1828800"/>
            <a:ext cx="2697480" cy="64008"/>
          </a:xfrm>
          <a:prstGeom prst="rect">
            <a:avLst/>
          </a:prstGeom>
          <a:solidFill>
            <a:srgbClr val="34D399"/>
          </a:solidFill>
          <a:ln w="12700">
            <a:solidFill>
              <a:srgbClr val="34D399"/>
            </a:solidFill>
            <a:prstDash val="solid"/>
          </a:ln>
        </p:spPr>
      </p:sp>
      <p:sp>
        <p:nvSpPr>
          <p:cNvPr id="15" name="Text 13"/>
          <p:cNvSpPr/>
          <p:nvPr/>
        </p:nvSpPr>
        <p:spPr>
          <a:xfrm>
            <a:off x="3410712" y="2011680"/>
            <a:ext cx="23774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Operational Quality</a:t>
            </a:r>
            <a:endParaRPr lang="en-US" sz="1400" dirty="0"/>
          </a:p>
        </p:txBody>
      </p:sp>
      <p:sp>
        <p:nvSpPr>
          <p:cNvPr id="16" name="Text 14"/>
          <p:cNvSpPr/>
          <p:nvPr/>
        </p:nvSpPr>
        <p:spPr>
          <a:xfrm>
            <a:off x="3383280" y="2468880"/>
            <a:ext cx="2423160" cy="1508760"/>
          </a:xfrm>
          <a:prstGeom prst="rect">
            <a:avLst/>
          </a:prstGeom>
          <a:noFill/>
          <a:ln/>
        </p:spPr>
        <p:txBody>
          <a:bodyPr wrap="square" lIns="0" tIns="0" rIns="0" bIns="0" rtlCol="0" anchor="t"/>
          <a:lstStyle/>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Target: high MOTA / precision with near-zero ID switches on sim streams</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Better multi-radar de-duplication → cleaner common operating picture</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Earlier clutter rejection → lower downstream load</a:t>
            </a:r>
            <a:endParaRPr lang="en-US" sz="1100" dirty="0"/>
          </a:p>
        </p:txBody>
      </p:sp>
      <p:sp>
        <p:nvSpPr>
          <p:cNvPr id="17" name="Shape 15"/>
          <p:cNvSpPr/>
          <p:nvPr/>
        </p:nvSpPr>
        <p:spPr>
          <a:xfrm>
            <a:off x="6080760" y="1828800"/>
            <a:ext cx="2697480" cy="2331720"/>
          </a:xfrm>
          <a:prstGeom prst="roundRect">
            <a:avLst>
              <a:gd name="adj" fmla="val 3137"/>
            </a:avLst>
          </a:prstGeom>
          <a:solidFill>
            <a:srgbClr val="172033"/>
          </a:solidFill>
          <a:ln w="12700">
            <a:solidFill>
              <a:srgbClr val="334155"/>
            </a:solidFill>
            <a:prstDash val="solid"/>
          </a:ln>
        </p:spPr>
      </p:sp>
      <p:sp>
        <p:nvSpPr>
          <p:cNvPr id="18" name="Shape 16"/>
          <p:cNvSpPr/>
          <p:nvPr/>
        </p:nvSpPr>
        <p:spPr>
          <a:xfrm>
            <a:off x="6080760" y="1828800"/>
            <a:ext cx="2697480" cy="64008"/>
          </a:xfrm>
          <a:prstGeom prst="rect">
            <a:avLst/>
          </a:prstGeom>
          <a:solidFill>
            <a:srgbClr val="38BDF8"/>
          </a:solidFill>
          <a:ln w="12700">
            <a:solidFill>
              <a:srgbClr val="38BDF8"/>
            </a:solidFill>
            <a:prstDash val="solid"/>
          </a:ln>
        </p:spPr>
      </p:sp>
      <p:sp>
        <p:nvSpPr>
          <p:cNvPr id="19" name="Text 17"/>
          <p:cNvSpPr/>
          <p:nvPr/>
        </p:nvSpPr>
        <p:spPr>
          <a:xfrm>
            <a:off x="6245352" y="2011680"/>
            <a:ext cx="2377440" cy="36576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Strategic Upside</a:t>
            </a:r>
            <a:endParaRPr lang="en-US" sz="1400" dirty="0"/>
          </a:p>
        </p:txBody>
      </p:sp>
      <p:sp>
        <p:nvSpPr>
          <p:cNvPr id="20" name="Text 18"/>
          <p:cNvSpPr/>
          <p:nvPr/>
        </p:nvSpPr>
        <p:spPr>
          <a:xfrm>
            <a:off x="6217920" y="2468880"/>
            <a:ext cx="2423160" cy="1508760"/>
          </a:xfrm>
          <a:prstGeom prst="rect">
            <a:avLst/>
          </a:prstGeom>
          <a:noFill/>
          <a:ln/>
        </p:spPr>
        <p:txBody>
          <a:bodyPr wrap="square" lIns="0" tIns="0" rIns="0" bIns="0" rtlCol="0" anchor="t"/>
          <a:lstStyle/>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Evidence package for ML investment vs. pure classical fusion</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Identifies where hybrid beats end-to-end deep models</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De-risks future transformer / GNN correlator work</a:t>
            </a:r>
            <a:endParaRPr lang="en-US" sz="1100" dirty="0"/>
          </a:p>
        </p:txBody>
      </p:sp>
      <p:sp>
        <p:nvSpPr>
          <p:cNvPr id="21" name="Text 19"/>
          <p:cNvSpPr/>
          <p:nvPr/>
        </p:nvSpPr>
        <p:spPr>
          <a:xfrm>
            <a:off x="7955280" y="4800600"/>
            <a:ext cx="822960" cy="22860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3 / 7</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w="12700">
            <a:solidFill>
              <a:srgbClr val="38BDF8"/>
            </a:solidFill>
            <a:prstDash val="solid"/>
          </a:ln>
        </p:spPr>
      </p:sp>
      <p:sp>
        <p:nvSpPr>
          <p:cNvPr id="3" name="Text 1"/>
          <p:cNvSpPr/>
          <p:nvPr/>
        </p:nvSpPr>
        <p:spPr>
          <a:xfrm>
            <a:off x="411480" y="201168"/>
            <a:ext cx="8321040" cy="237744"/>
          </a:xfrm>
          <a:prstGeom prst="rect">
            <a:avLst/>
          </a:prstGeom>
          <a:noFill/>
          <a:ln/>
        </p:spPr>
        <p:txBody>
          <a:bodyPr wrap="square" lIns="0" tIns="0" rIns="0" bIns="0" rtlCol="0" anchor="ctr"/>
          <a:lstStyle/>
          <a:p>
            <a:pPr indent="0" marL="0">
              <a:buNone/>
            </a:pPr>
            <a:r>
              <a:rPr lang="en-US" sz="1100" b="1" spc="120" kern="0" dirty="0">
                <a:solidFill>
                  <a:srgbClr val="38BDF8"/>
                </a:solidFill>
                <a:latin typeface="Calibri" pitchFamily="34" charset="0"/>
                <a:ea typeface="Calibri" pitchFamily="34" charset="-122"/>
                <a:cs typeface="Calibri" pitchFamily="34" charset="-120"/>
              </a:rPr>
              <a:t>CAPSTONE  ·  AIR TRAFFIC SURVEILLANCE</a:t>
            </a:r>
            <a:endParaRPr lang="en-US" sz="1100" dirty="0"/>
          </a:p>
        </p:txBody>
      </p:sp>
      <p:sp>
        <p:nvSpPr>
          <p:cNvPr id="4" name="Text 2"/>
          <p:cNvSpPr/>
          <p:nvPr/>
        </p:nvSpPr>
        <p:spPr>
          <a:xfrm>
            <a:off x="411480" y="438912"/>
            <a:ext cx="832104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End-user Stakeholder(s) and Roles</a:t>
            </a:r>
            <a:endParaRPr lang="en-US" sz="2800" dirty="0"/>
          </a:p>
        </p:txBody>
      </p:sp>
      <p:sp>
        <p:nvSpPr>
          <p:cNvPr id="5" name="Text 3"/>
          <p:cNvSpPr/>
          <p:nvPr/>
        </p:nvSpPr>
        <p:spPr>
          <a:xfrm>
            <a:off x="411480" y="18288"/>
            <a:ext cx="5852160" cy="164592"/>
          </a:xfrm>
          <a:prstGeom prst="rect">
            <a:avLst/>
          </a:prstGeom>
          <a:noFill/>
          <a:ln/>
        </p:spPr>
        <p:txBody>
          <a:bodyPr wrap="square" lIns="0" tIns="0" rIns="0" bIns="0" rtlCol="0" anchor="ctr"/>
          <a:lstStyle/>
          <a:p>
            <a:pPr indent="0" marL="0">
              <a:buNone/>
            </a:pPr>
            <a:r>
              <a:rPr lang="en-US" sz="800" b="1" dirty="0">
                <a:solidFill>
                  <a:srgbClr val="FECACA"/>
                </a:solidFill>
                <a:latin typeface="Calibri" pitchFamily="34" charset="0"/>
                <a:ea typeface="Calibri" pitchFamily="34" charset="-122"/>
                <a:cs typeface="Calibri" pitchFamily="34" charset="-120"/>
              </a:rPr>
              <a:t>LOCKHEED MARTIN PROPRIETARY INFORMATION</a:t>
            </a:r>
            <a:endParaRPr lang="en-US" sz="800" dirty="0"/>
          </a:p>
        </p:txBody>
      </p:sp>
      <p:sp>
        <p:nvSpPr>
          <p:cNvPr id="6" name="Text 4"/>
          <p:cNvSpPr/>
          <p:nvPr/>
        </p:nvSpPr>
        <p:spPr>
          <a:xfrm>
            <a:off x="411480" y="4919472"/>
            <a:ext cx="749808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Thomas Rathbun, PhD  ·  LOCKHEED MARTIN PROPRIETARY INFORMATION</a:t>
            </a:r>
            <a:endParaRPr lang="en-US" sz="900" dirty="0"/>
          </a:p>
        </p:txBody>
      </p:sp>
      <p:sp>
        <p:nvSpPr>
          <p:cNvPr id="7" name="Shape 5"/>
          <p:cNvSpPr/>
          <p:nvPr/>
        </p:nvSpPr>
        <p:spPr>
          <a:xfrm>
            <a:off x="411480" y="1051560"/>
            <a:ext cx="8321040" cy="347472"/>
          </a:xfrm>
          <a:prstGeom prst="roundRect">
            <a:avLst>
              <a:gd name="adj" fmla="val 13158"/>
            </a:avLst>
          </a:prstGeom>
          <a:solidFill>
            <a:srgbClr val="1E293B"/>
          </a:solidFill>
          <a:ln w="12700">
            <a:solidFill>
              <a:srgbClr val="334155"/>
            </a:solidFill>
            <a:prstDash val="solid"/>
          </a:ln>
        </p:spPr>
      </p:sp>
      <p:sp>
        <p:nvSpPr>
          <p:cNvPr id="8" name="Text 6"/>
          <p:cNvSpPr/>
          <p:nvPr/>
        </p:nvSpPr>
        <p:spPr>
          <a:xfrm>
            <a:off x="502920" y="1097280"/>
            <a:ext cx="2377440" cy="256032"/>
          </a:xfrm>
          <a:prstGeom prst="rect">
            <a:avLst/>
          </a:prstGeom>
          <a:noFill/>
          <a:ln/>
        </p:spPr>
        <p:txBody>
          <a:bodyPr wrap="square" lIns="0" tIns="0" rIns="0" bIns="0"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Stakeholder</a:t>
            </a:r>
            <a:endParaRPr lang="en-US" sz="1100" dirty="0"/>
          </a:p>
        </p:txBody>
      </p:sp>
      <p:sp>
        <p:nvSpPr>
          <p:cNvPr id="9" name="Text 7"/>
          <p:cNvSpPr/>
          <p:nvPr/>
        </p:nvSpPr>
        <p:spPr>
          <a:xfrm>
            <a:off x="2926080" y="1097280"/>
            <a:ext cx="3200400" cy="256032"/>
          </a:xfrm>
          <a:prstGeom prst="rect">
            <a:avLst/>
          </a:prstGeom>
          <a:noFill/>
          <a:ln/>
        </p:spPr>
        <p:txBody>
          <a:bodyPr wrap="square" lIns="0" tIns="0" rIns="0" bIns="0"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Interest / Need</a:t>
            </a:r>
            <a:endParaRPr lang="en-US" sz="1100" dirty="0"/>
          </a:p>
        </p:txBody>
      </p:sp>
      <p:sp>
        <p:nvSpPr>
          <p:cNvPr id="10" name="Text 8"/>
          <p:cNvSpPr/>
          <p:nvPr/>
        </p:nvSpPr>
        <p:spPr>
          <a:xfrm>
            <a:off x="6217920" y="1097280"/>
            <a:ext cx="2377440" cy="256032"/>
          </a:xfrm>
          <a:prstGeom prst="rect">
            <a:avLst/>
          </a:prstGeom>
          <a:noFill/>
          <a:ln/>
        </p:spPr>
        <p:txBody>
          <a:bodyPr wrap="square" lIns="0" tIns="0" rIns="0" bIns="0"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Role in Capstone</a:t>
            </a:r>
            <a:endParaRPr lang="en-US" sz="1100" dirty="0"/>
          </a:p>
        </p:txBody>
      </p:sp>
      <p:sp>
        <p:nvSpPr>
          <p:cNvPr id="11" name="Shape 9"/>
          <p:cNvSpPr/>
          <p:nvPr/>
        </p:nvSpPr>
        <p:spPr>
          <a:xfrm>
            <a:off x="411480" y="1463040"/>
            <a:ext cx="8321040" cy="566928"/>
          </a:xfrm>
          <a:prstGeom prst="roundRect">
            <a:avLst>
              <a:gd name="adj" fmla="val 6452"/>
            </a:avLst>
          </a:prstGeom>
          <a:solidFill>
            <a:srgbClr val="172033"/>
          </a:solidFill>
          <a:ln w="6350">
            <a:solidFill>
              <a:srgbClr val="334155"/>
            </a:solidFill>
            <a:prstDash val="solid"/>
          </a:ln>
        </p:spPr>
      </p:sp>
      <p:sp>
        <p:nvSpPr>
          <p:cNvPr id="12" name="Text 10"/>
          <p:cNvSpPr/>
          <p:nvPr/>
        </p:nvSpPr>
        <p:spPr>
          <a:xfrm>
            <a:off x="502920" y="1554480"/>
            <a:ext cx="23317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Surveillance / ATC Engineering</a:t>
            </a:r>
            <a:endParaRPr lang="en-US" sz="1100" dirty="0"/>
          </a:p>
        </p:txBody>
      </p:sp>
      <p:sp>
        <p:nvSpPr>
          <p:cNvPr id="13" name="Text 11"/>
          <p:cNvSpPr/>
          <p:nvPr/>
        </p:nvSpPr>
        <p:spPr>
          <a:xfrm>
            <a:off x="2926080" y="1536192"/>
            <a:ext cx="3154680" cy="43891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Primary consumers of architecture, metrics, and integration guidance for multi-radar fusion.</a:t>
            </a:r>
            <a:endParaRPr lang="en-US" sz="1000" dirty="0"/>
          </a:p>
        </p:txBody>
      </p:sp>
      <p:sp>
        <p:nvSpPr>
          <p:cNvPr id="14" name="Text 12"/>
          <p:cNvSpPr/>
          <p:nvPr/>
        </p:nvSpPr>
        <p:spPr>
          <a:xfrm>
            <a:off x="6217920" y="1536192"/>
            <a:ext cx="2377440" cy="438912"/>
          </a:xfrm>
          <a:prstGeom prst="rect">
            <a:avLst/>
          </a:prstGeom>
          <a:noFill/>
          <a:ln/>
        </p:spPr>
        <p:txBody>
          <a:bodyPr wrap="square" lIns="0" tIns="0" rIns="0" bIns="0" rtlCol="0" anchor="ctr"/>
          <a:lstStyle/>
          <a:p>
            <a:pPr indent="0" marL="0">
              <a:buNone/>
            </a:pPr>
            <a:r>
              <a:rPr lang="en-US" sz="1000" dirty="0">
                <a:solidFill>
                  <a:srgbClr val="A8C5E2"/>
                </a:solidFill>
                <a:latin typeface="Calibri" pitchFamily="34" charset="0"/>
                <a:ea typeface="Calibri" pitchFamily="34" charset="-122"/>
                <a:cs typeface="Calibri" pitchFamily="34" charset="-120"/>
              </a:rPr>
              <a:t>Review design; assess fit vs. current correlators.</a:t>
            </a:r>
            <a:endParaRPr lang="en-US" sz="1000" dirty="0"/>
          </a:p>
        </p:txBody>
      </p:sp>
      <p:sp>
        <p:nvSpPr>
          <p:cNvPr id="15" name="Shape 13"/>
          <p:cNvSpPr/>
          <p:nvPr/>
        </p:nvSpPr>
        <p:spPr>
          <a:xfrm>
            <a:off x="411480" y="2084832"/>
            <a:ext cx="8321040" cy="566928"/>
          </a:xfrm>
          <a:prstGeom prst="roundRect">
            <a:avLst>
              <a:gd name="adj" fmla="val 6452"/>
            </a:avLst>
          </a:prstGeom>
          <a:solidFill>
            <a:srgbClr val="141C2E"/>
          </a:solidFill>
          <a:ln w="6350">
            <a:solidFill>
              <a:srgbClr val="334155"/>
            </a:solidFill>
            <a:prstDash val="solid"/>
          </a:ln>
        </p:spPr>
      </p:sp>
      <p:sp>
        <p:nvSpPr>
          <p:cNvPr id="16" name="Text 14"/>
          <p:cNvSpPr/>
          <p:nvPr/>
        </p:nvSpPr>
        <p:spPr>
          <a:xfrm>
            <a:off x="502920" y="2176272"/>
            <a:ext cx="23317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Tracker / Sensor Fusion SMEs</a:t>
            </a:r>
            <a:endParaRPr lang="en-US" sz="1100" dirty="0"/>
          </a:p>
        </p:txBody>
      </p:sp>
      <p:sp>
        <p:nvSpPr>
          <p:cNvPr id="17" name="Text 15"/>
          <p:cNvSpPr/>
          <p:nvPr/>
        </p:nvSpPr>
        <p:spPr>
          <a:xfrm>
            <a:off x="2926080" y="2157984"/>
            <a:ext cx="3154680" cy="43891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Validate association, clutter, and async-timing assumptions against operational practice.</a:t>
            </a:r>
            <a:endParaRPr lang="en-US" sz="1000" dirty="0"/>
          </a:p>
        </p:txBody>
      </p:sp>
      <p:sp>
        <p:nvSpPr>
          <p:cNvPr id="18" name="Text 16"/>
          <p:cNvSpPr/>
          <p:nvPr/>
        </p:nvSpPr>
        <p:spPr>
          <a:xfrm>
            <a:off x="6217920" y="2157984"/>
            <a:ext cx="2377440" cy="438912"/>
          </a:xfrm>
          <a:prstGeom prst="rect">
            <a:avLst/>
          </a:prstGeom>
          <a:noFill/>
          <a:ln/>
        </p:spPr>
        <p:txBody>
          <a:bodyPr wrap="square" lIns="0" tIns="0" rIns="0" bIns="0" rtlCol="0" anchor="ctr"/>
          <a:lstStyle/>
          <a:p>
            <a:pPr indent="0" marL="0">
              <a:buNone/>
            </a:pPr>
            <a:r>
              <a:rPr lang="en-US" sz="1000" dirty="0">
                <a:solidFill>
                  <a:srgbClr val="A8C5E2"/>
                </a:solidFill>
                <a:latin typeface="Calibri" pitchFamily="34" charset="0"/>
                <a:ea typeface="Calibri" pitchFamily="34" charset="-122"/>
                <a:cs typeface="Calibri" pitchFamily="34" charset="-120"/>
              </a:rPr>
              <a:t>Technical review of hybrid vs. pure-ML results.</a:t>
            </a:r>
            <a:endParaRPr lang="en-US" sz="1000" dirty="0"/>
          </a:p>
        </p:txBody>
      </p:sp>
      <p:sp>
        <p:nvSpPr>
          <p:cNvPr id="19" name="Shape 17"/>
          <p:cNvSpPr/>
          <p:nvPr/>
        </p:nvSpPr>
        <p:spPr>
          <a:xfrm>
            <a:off x="411480" y="2706624"/>
            <a:ext cx="8321040" cy="566928"/>
          </a:xfrm>
          <a:prstGeom prst="roundRect">
            <a:avLst>
              <a:gd name="adj" fmla="val 6452"/>
            </a:avLst>
          </a:prstGeom>
          <a:solidFill>
            <a:srgbClr val="172033"/>
          </a:solidFill>
          <a:ln w="6350">
            <a:solidFill>
              <a:srgbClr val="334155"/>
            </a:solidFill>
            <a:prstDash val="solid"/>
          </a:ln>
        </p:spPr>
      </p:sp>
      <p:sp>
        <p:nvSpPr>
          <p:cNvPr id="20" name="Text 18"/>
          <p:cNvSpPr/>
          <p:nvPr/>
        </p:nvSpPr>
        <p:spPr>
          <a:xfrm>
            <a:off x="502920" y="2798064"/>
            <a:ext cx="23317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Data / ML Engineering</a:t>
            </a:r>
            <a:endParaRPr lang="en-US" sz="1100" dirty="0"/>
          </a:p>
        </p:txBody>
      </p:sp>
      <p:sp>
        <p:nvSpPr>
          <p:cNvPr id="21" name="Text 19"/>
          <p:cNvSpPr/>
          <p:nvPr/>
        </p:nvSpPr>
        <p:spPr>
          <a:xfrm>
            <a:off x="2926080" y="2779776"/>
            <a:ext cx="3154680" cy="43891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Own training data pipelines, labeling, and model ops if the approach is adopted.</a:t>
            </a:r>
            <a:endParaRPr lang="en-US" sz="1000" dirty="0"/>
          </a:p>
        </p:txBody>
      </p:sp>
      <p:sp>
        <p:nvSpPr>
          <p:cNvPr id="22" name="Text 20"/>
          <p:cNvSpPr/>
          <p:nvPr/>
        </p:nvSpPr>
        <p:spPr>
          <a:xfrm>
            <a:off x="6217920" y="2779776"/>
            <a:ext cx="2377440" cy="438912"/>
          </a:xfrm>
          <a:prstGeom prst="rect">
            <a:avLst/>
          </a:prstGeom>
          <a:noFill/>
          <a:ln/>
        </p:spPr>
        <p:txBody>
          <a:bodyPr wrap="square" lIns="0" tIns="0" rIns="0" bIns="0" rtlCol="0" anchor="ctr"/>
          <a:lstStyle/>
          <a:p>
            <a:pPr indent="0" marL="0">
              <a:buNone/>
            </a:pPr>
            <a:r>
              <a:rPr lang="en-US" sz="1000" dirty="0">
                <a:solidFill>
                  <a:srgbClr val="A8C5E2"/>
                </a:solidFill>
                <a:latin typeface="Calibri" pitchFamily="34" charset="0"/>
                <a:ea typeface="Calibri" pitchFamily="34" charset="-122"/>
                <a:cs typeface="Calibri" pitchFamily="34" charset="-120"/>
              </a:rPr>
              <a:t>Advise on data quality, schema, and retrain path.</a:t>
            </a:r>
            <a:endParaRPr lang="en-US" sz="1000" dirty="0"/>
          </a:p>
        </p:txBody>
      </p:sp>
      <p:sp>
        <p:nvSpPr>
          <p:cNvPr id="23" name="Shape 21"/>
          <p:cNvSpPr/>
          <p:nvPr/>
        </p:nvSpPr>
        <p:spPr>
          <a:xfrm>
            <a:off x="411480" y="3328416"/>
            <a:ext cx="8321040" cy="566928"/>
          </a:xfrm>
          <a:prstGeom prst="roundRect">
            <a:avLst>
              <a:gd name="adj" fmla="val 6452"/>
            </a:avLst>
          </a:prstGeom>
          <a:solidFill>
            <a:srgbClr val="141C2E"/>
          </a:solidFill>
          <a:ln w="6350">
            <a:solidFill>
              <a:srgbClr val="334155"/>
            </a:solidFill>
            <a:prstDash val="solid"/>
          </a:ln>
        </p:spPr>
      </p:sp>
      <p:sp>
        <p:nvSpPr>
          <p:cNvPr id="24" name="Text 22"/>
          <p:cNvSpPr/>
          <p:nvPr/>
        </p:nvSpPr>
        <p:spPr>
          <a:xfrm>
            <a:off x="502920" y="3419856"/>
            <a:ext cx="23317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Product / Program Leadership</a:t>
            </a:r>
            <a:endParaRPr lang="en-US" sz="1100" dirty="0"/>
          </a:p>
        </p:txBody>
      </p:sp>
      <p:sp>
        <p:nvSpPr>
          <p:cNvPr id="25" name="Text 23"/>
          <p:cNvSpPr/>
          <p:nvPr/>
        </p:nvSpPr>
        <p:spPr>
          <a:xfrm>
            <a:off x="2926080" y="3401568"/>
            <a:ext cx="3154680" cy="43891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Decide investment: extend hybrid, pursue transformer correlator, or stay classical.</a:t>
            </a:r>
            <a:endParaRPr lang="en-US" sz="1000" dirty="0"/>
          </a:p>
        </p:txBody>
      </p:sp>
      <p:sp>
        <p:nvSpPr>
          <p:cNvPr id="26" name="Text 24"/>
          <p:cNvSpPr/>
          <p:nvPr/>
        </p:nvSpPr>
        <p:spPr>
          <a:xfrm>
            <a:off x="6217920" y="3401568"/>
            <a:ext cx="2377440" cy="438912"/>
          </a:xfrm>
          <a:prstGeom prst="rect">
            <a:avLst/>
          </a:prstGeom>
          <a:noFill/>
          <a:ln/>
        </p:spPr>
        <p:txBody>
          <a:bodyPr wrap="square" lIns="0" tIns="0" rIns="0" bIns="0" rtlCol="0" anchor="ctr"/>
          <a:lstStyle/>
          <a:p>
            <a:pPr indent="0" marL="0">
              <a:buNone/>
            </a:pPr>
            <a:r>
              <a:rPr lang="en-US" sz="1000" dirty="0">
                <a:solidFill>
                  <a:srgbClr val="A8C5E2"/>
                </a:solidFill>
                <a:latin typeface="Calibri" pitchFamily="34" charset="0"/>
                <a:ea typeface="Calibri" pitchFamily="34" charset="-122"/>
                <a:cs typeface="Calibri" pitchFamily="34" charset="-120"/>
              </a:rPr>
              <a:t>Use feasibility + risk findings for roadmap.</a:t>
            </a:r>
            <a:endParaRPr lang="en-US" sz="1000" dirty="0"/>
          </a:p>
        </p:txBody>
      </p:sp>
      <p:sp>
        <p:nvSpPr>
          <p:cNvPr id="27" name="Shape 25"/>
          <p:cNvSpPr/>
          <p:nvPr/>
        </p:nvSpPr>
        <p:spPr>
          <a:xfrm>
            <a:off x="411480" y="3950208"/>
            <a:ext cx="8321040" cy="566928"/>
          </a:xfrm>
          <a:prstGeom prst="roundRect">
            <a:avLst>
              <a:gd name="adj" fmla="val 6452"/>
            </a:avLst>
          </a:prstGeom>
          <a:solidFill>
            <a:srgbClr val="172033"/>
          </a:solidFill>
          <a:ln w="6350">
            <a:solidFill>
              <a:srgbClr val="334155"/>
            </a:solidFill>
            <a:prstDash val="solid"/>
          </a:ln>
        </p:spPr>
      </p:sp>
      <p:sp>
        <p:nvSpPr>
          <p:cNvPr id="28" name="Text 26"/>
          <p:cNvSpPr/>
          <p:nvPr/>
        </p:nvSpPr>
        <p:spPr>
          <a:xfrm>
            <a:off x="502920" y="4041648"/>
            <a:ext cx="2331720" cy="384048"/>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Operations (future users)</a:t>
            </a:r>
            <a:endParaRPr lang="en-US" sz="1100" dirty="0"/>
          </a:p>
        </p:txBody>
      </p:sp>
      <p:sp>
        <p:nvSpPr>
          <p:cNvPr id="29" name="Text 27"/>
          <p:cNvSpPr/>
          <p:nvPr/>
        </p:nvSpPr>
        <p:spPr>
          <a:xfrm>
            <a:off x="2926080" y="4023360"/>
            <a:ext cx="3154680" cy="438912"/>
          </a:xfrm>
          <a:prstGeom prst="rect">
            <a:avLst/>
          </a:prstGeom>
          <a:noFill/>
          <a:ln/>
        </p:spPr>
        <p:txBody>
          <a:bodyPr wrap="square" lIns="0" tIns="0" rIns="0" bIns="0" rtlCol="0" anchor="ctr"/>
          <a:lstStyle/>
          <a:p>
            <a:pPr indent="0" marL="0">
              <a:buNone/>
            </a:pPr>
            <a:r>
              <a:rPr lang="en-US" sz="1000" dirty="0">
                <a:solidFill>
                  <a:srgbClr val="94A3B8"/>
                </a:solidFill>
                <a:latin typeface="Calibri" pitchFamily="34" charset="0"/>
                <a:ea typeface="Calibri" pitchFamily="34" charset="-122"/>
                <a:cs typeface="Calibri" pitchFamily="34" charset="-120"/>
              </a:rPr>
              <a:t>Need a stable common track picture with low false tracks and ID stability.</a:t>
            </a:r>
            <a:endParaRPr lang="en-US" sz="1000" dirty="0"/>
          </a:p>
        </p:txBody>
      </p:sp>
      <p:sp>
        <p:nvSpPr>
          <p:cNvPr id="30" name="Text 28"/>
          <p:cNvSpPr/>
          <p:nvPr/>
        </p:nvSpPr>
        <p:spPr>
          <a:xfrm>
            <a:off x="6217920" y="4023360"/>
            <a:ext cx="2377440" cy="438912"/>
          </a:xfrm>
          <a:prstGeom prst="rect">
            <a:avLst/>
          </a:prstGeom>
          <a:noFill/>
          <a:ln/>
        </p:spPr>
        <p:txBody>
          <a:bodyPr wrap="square" lIns="0" tIns="0" rIns="0" bIns="0" rtlCol="0" anchor="ctr"/>
          <a:lstStyle/>
          <a:p>
            <a:pPr indent="0" marL="0">
              <a:buNone/>
            </a:pPr>
            <a:r>
              <a:rPr lang="en-US" sz="1000" dirty="0">
                <a:solidFill>
                  <a:srgbClr val="A8C5E2"/>
                </a:solidFill>
                <a:latin typeface="Calibri" pitchFamily="34" charset="0"/>
                <a:ea typeface="Calibri" pitchFamily="34" charset="-122"/>
                <a:cs typeface="Calibri" pitchFamily="34" charset="-120"/>
              </a:rPr>
              <a:t>Indirect; success criteria framed around their COP quality.</a:t>
            </a:r>
            <a:endParaRPr lang="en-US" sz="1000" dirty="0"/>
          </a:p>
        </p:txBody>
      </p:sp>
      <p:sp>
        <p:nvSpPr>
          <p:cNvPr id="31" name="Text 29"/>
          <p:cNvSpPr/>
          <p:nvPr/>
        </p:nvSpPr>
        <p:spPr>
          <a:xfrm>
            <a:off x="7955280" y="4800600"/>
            <a:ext cx="822960" cy="22860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4 / 7</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w="12700">
            <a:solidFill>
              <a:srgbClr val="38BDF8"/>
            </a:solidFill>
            <a:prstDash val="solid"/>
          </a:ln>
        </p:spPr>
      </p:sp>
      <p:sp>
        <p:nvSpPr>
          <p:cNvPr id="3" name="Text 1"/>
          <p:cNvSpPr/>
          <p:nvPr/>
        </p:nvSpPr>
        <p:spPr>
          <a:xfrm>
            <a:off x="411480" y="201168"/>
            <a:ext cx="8321040" cy="237744"/>
          </a:xfrm>
          <a:prstGeom prst="rect">
            <a:avLst/>
          </a:prstGeom>
          <a:noFill/>
          <a:ln/>
        </p:spPr>
        <p:txBody>
          <a:bodyPr wrap="square" lIns="0" tIns="0" rIns="0" bIns="0" rtlCol="0" anchor="ctr"/>
          <a:lstStyle/>
          <a:p>
            <a:pPr indent="0" marL="0">
              <a:buNone/>
            </a:pPr>
            <a:r>
              <a:rPr lang="en-US" sz="1100" b="1" spc="120" kern="0" dirty="0">
                <a:solidFill>
                  <a:srgbClr val="38BDF8"/>
                </a:solidFill>
                <a:latin typeface="Calibri" pitchFamily="34" charset="0"/>
                <a:ea typeface="Calibri" pitchFamily="34" charset="-122"/>
                <a:cs typeface="Calibri" pitchFamily="34" charset="-120"/>
              </a:rPr>
              <a:t>CAPSTONE  ·  AIR TRAFFIC SURVEILLANCE</a:t>
            </a:r>
            <a:endParaRPr lang="en-US" sz="1100" dirty="0"/>
          </a:p>
        </p:txBody>
      </p:sp>
      <p:sp>
        <p:nvSpPr>
          <p:cNvPr id="4" name="Text 2"/>
          <p:cNvSpPr/>
          <p:nvPr/>
        </p:nvSpPr>
        <p:spPr>
          <a:xfrm>
            <a:off x="411480" y="438912"/>
            <a:ext cx="832104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Data Requirements</a:t>
            </a:r>
            <a:endParaRPr lang="en-US" sz="2800" dirty="0"/>
          </a:p>
        </p:txBody>
      </p:sp>
      <p:sp>
        <p:nvSpPr>
          <p:cNvPr id="5" name="Text 3"/>
          <p:cNvSpPr/>
          <p:nvPr/>
        </p:nvSpPr>
        <p:spPr>
          <a:xfrm>
            <a:off x="411480" y="18288"/>
            <a:ext cx="5852160" cy="164592"/>
          </a:xfrm>
          <a:prstGeom prst="rect">
            <a:avLst/>
          </a:prstGeom>
          <a:noFill/>
          <a:ln/>
        </p:spPr>
        <p:txBody>
          <a:bodyPr wrap="square" lIns="0" tIns="0" rIns="0" bIns="0" rtlCol="0" anchor="ctr"/>
          <a:lstStyle/>
          <a:p>
            <a:pPr indent="0" marL="0">
              <a:buNone/>
            </a:pPr>
            <a:r>
              <a:rPr lang="en-US" sz="800" b="1" dirty="0">
                <a:solidFill>
                  <a:srgbClr val="FECACA"/>
                </a:solidFill>
                <a:latin typeface="Calibri" pitchFamily="34" charset="0"/>
                <a:ea typeface="Calibri" pitchFamily="34" charset="-122"/>
                <a:cs typeface="Calibri" pitchFamily="34" charset="-120"/>
              </a:rPr>
              <a:t>LOCKHEED MARTIN PROPRIETARY INFORMATION</a:t>
            </a:r>
            <a:endParaRPr lang="en-US" sz="800" dirty="0"/>
          </a:p>
        </p:txBody>
      </p:sp>
      <p:sp>
        <p:nvSpPr>
          <p:cNvPr id="6" name="Text 4"/>
          <p:cNvSpPr/>
          <p:nvPr/>
        </p:nvSpPr>
        <p:spPr>
          <a:xfrm>
            <a:off x="411480" y="4919472"/>
            <a:ext cx="749808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Thomas Rathbun, PhD  ·  LOCKHEED MARTIN PROPRIETARY INFORMATION</a:t>
            </a:r>
            <a:endParaRPr lang="en-US" sz="900" dirty="0"/>
          </a:p>
        </p:txBody>
      </p:sp>
      <p:sp>
        <p:nvSpPr>
          <p:cNvPr id="7" name="Shape 5"/>
          <p:cNvSpPr/>
          <p:nvPr/>
        </p:nvSpPr>
        <p:spPr>
          <a:xfrm>
            <a:off x="411480" y="1051560"/>
            <a:ext cx="2697480" cy="2331720"/>
          </a:xfrm>
          <a:prstGeom prst="roundRect">
            <a:avLst>
              <a:gd name="adj" fmla="val 3137"/>
            </a:avLst>
          </a:prstGeom>
          <a:solidFill>
            <a:srgbClr val="172033"/>
          </a:solidFill>
          <a:ln w="12700">
            <a:solidFill>
              <a:srgbClr val="334155"/>
            </a:solidFill>
            <a:prstDash val="solid"/>
          </a:ln>
        </p:spPr>
      </p:sp>
      <p:sp>
        <p:nvSpPr>
          <p:cNvPr id="8" name="Shape 6"/>
          <p:cNvSpPr/>
          <p:nvPr/>
        </p:nvSpPr>
        <p:spPr>
          <a:xfrm>
            <a:off x="411480" y="1051560"/>
            <a:ext cx="2697480" cy="64008"/>
          </a:xfrm>
          <a:prstGeom prst="rect">
            <a:avLst/>
          </a:prstGeom>
          <a:solidFill>
            <a:srgbClr val="38BDF8"/>
          </a:solidFill>
          <a:ln w="12700">
            <a:solidFill>
              <a:srgbClr val="38BDF8"/>
            </a:solidFill>
            <a:prstDash val="solid"/>
          </a:ln>
        </p:spPr>
      </p:sp>
      <p:sp>
        <p:nvSpPr>
          <p:cNvPr id="9" name="Text 7"/>
          <p:cNvSpPr/>
          <p:nvPr/>
        </p:nvSpPr>
        <p:spPr>
          <a:xfrm>
            <a:off x="576072" y="1234440"/>
            <a:ext cx="237744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Inputs</a:t>
            </a:r>
            <a:endParaRPr lang="en-US" sz="1500" dirty="0"/>
          </a:p>
        </p:txBody>
      </p:sp>
      <p:sp>
        <p:nvSpPr>
          <p:cNvPr id="10" name="Text 8"/>
          <p:cNvSpPr/>
          <p:nvPr/>
        </p:nvSpPr>
        <p:spPr>
          <a:xfrm>
            <a:off x="548640" y="1691640"/>
            <a:ext cx="2423160" cy="1554480"/>
          </a:xfrm>
          <a:prstGeom prst="rect">
            <a:avLst/>
          </a:prstGeom>
          <a:noFill/>
          <a:ln/>
        </p:spPr>
        <p:txBody>
          <a:bodyPr wrap="square" lIns="0" tIns="0" rIns="0" bIns="0" rtlCol="0" anchor="ctr"/>
          <a:lstStyle/>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Multi-sensor plots: PSR position/velocity/amplitude; SSR Mode 3A/S + position</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Decoded Asterix-style streams (CAT 048 / 062 derived) in Cartesian form</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Timestamps, sensor IDs, and modality tags for async fusion</a:t>
            </a:r>
            <a:endParaRPr lang="en-US" sz="1100" dirty="0"/>
          </a:p>
        </p:txBody>
      </p:sp>
      <p:sp>
        <p:nvSpPr>
          <p:cNvPr id="11" name="Shape 9"/>
          <p:cNvSpPr/>
          <p:nvPr/>
        </p:nvSpPr>
        <p:spPr>
          <a:xfrm>
            <a:off x="3246120" y="1051560"/>
            <a:ext cx="2697480" cy="2331720"/>
          </a:xfrm>
          <a:prstGeom prst="roundRect">
            <a:avLst>
              <a:gd name="adj" fmla="val 3137"/>
            </a:avLst>
          </a:prstGeom>
          <a:solidFill>
            <a:srgbClr val="172033"/>
          </a:solidFill>
          <a:ln w="12700">
            <a:solidFill>
              <a:srgbClr val="334155"/>
            </a:solidFill>
            <a:prstDash val="solid"/>
          </a:ln>
        </p:spPr>
      </p:sp>
      <p:sp>
        <p:nvSpPr>
          <p:cNvPr id="12" name="Shape 10"/>
          <p:cNvSpPr/>
          <p:nvPr/>
        </p:nvSpPr>
        <p:spPr>
          <a:xfrm>
            <a:off x="3246120" y="1051560"/>
            <a:ext cx="2697480" cy="64008"/>
          </a:xfrm>
          <a:prstGeom prst="rect">
            <a:avLst/>
          </a:prstGeom>
          <a:solidFill>
            <a:srgbClr val="F59E0B"/>
          </a:solidFill>
          <a:ln w="12700">
            <a:solidFill>
              <a:srgbClr val="F59E0B"/>
            </a:solidFill>
            <a:prstDash val="solid"/>
          </a:ln>
        </p:spPr>
      </p:sp>
      <p:sp>
        <p:nvSpPr>
          <p:cNvPr id="13" name="Text 11"/>
          <p:cNvSpPr/>
          <p:nvPr/>
        </p:nvSpPr>
        <p:spPr>
          <a:xfrm>
            <a:off x="3410712" y="1234440"/>
            <a:ext cx="237744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Labels / Truth</a:t>
            </a:r>
            <a:endParaRPr lang="en-US" sz="1500" dirty="0"/>
          </a:p>
        </p:txBody>
      </p:sp>
      <p:sp>
        <p:nvSpPr>
          <p:cNvPr id="14" name="Text 12"/>
          <p:cNvSpPr/>
          <p:nvPr/>
        </p:nvSpPr>
        <p:spPr>
          <a:xfrm>
            <a:off x="3383280" y="1691640"/>
            <a:ext cx="2423160" cy="1554480"/>
          </a:xfrm>
          <a:prstGeom prst="rect">
            <a:avLst/>
          </a:prstGeom>
          <a:noFill/>
          <a:ln/>
        </p:spPr>
        <p:txBody>
          <a:bodyPr wrap="square" lIns="0" tIns="0" rIns="0" bIns="0" rtlCol="0" anchor="ctr"/>
          <a:lstStyle/>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Ground-truth track IDs for association training &amp; MOTA</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True kinematics (x,y,z,vx,vy,vz) independent of noisy plots</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Clutter / false-alarm flags where available</a:t>
            </a:r>
            <a:endParaRPr lang="en-US" sz="1100" dirty="0"/>
          </a:p>
        </p:txBody>
      </p:sp>
      <p:sp>
        <p:nvSpPr>
          <p:cNvPr id="15" name="Shape 13"/>
          <p:cNvSpPr/>
          <p:nvPr/>
        </p:nvSpPr>
        <p:spPr>
          <a:xfrm>
            <a:off x="6080760" y="1051560"/>
            <a:ext cx="2697480" cy="2331720"/>
          </a:xfrm>
          <a:prstGeom prst="roundRect">
            <a:avLst>
              <a:gd name="adj" fmla="val 3137"/>
            </a:avLst>
          </a:prstGeom>
          <a:solidFill>
            <a:srgbClr val="172033"/>
          </a:solidFill>
          <a:ln w="12700">
            <a:solidFill>
              <a:srgbClr val="334155"/>
            </a:solidFill>
            <a:prstDash val="solid"/>
          </a:ln>
        </p:spPr>
      </p:sp>
      <p:sp>
        <p:nvSpPr>
          <p:cNvPr id="16" name="Shape 14"/>
          <p:cNvSpPr/>
          <p:nvPr/>
        </p:nvSpPr>
        <p:spPr>
          <a:xfrm>
            <a:off x="6080760" y="1051560"/>
            <a:ext cx="2697480" cy="64008"/>
          </a:xfrm>
          <a:prstGeom prst="rect">
            <a:avLst/>
          </a:prstGeom>
          <a:solidFill>
            <a:srgbClr val="34D399"/>
          </a:solidFill>
          <a:ln w="12700">
            <a:solidFill>
              <a:srgbClr val="34D399"/>
            </a:solidFill>
            <a:prstDash val="solid"/>
          </a:ln>
        </p:spPr>
      </p:sp>
      <p:sp>
        <p:nvSpPr>
          <p:cNvPr id="17" name="Text 15"/>
          <p:cNvSpPr/>
          <p:nvPr/>
        </p:nvSpPr>
        <p:spPr>
          <a:xfrm>
            <a:off x="6245352" y="1234440"/>
            <a:ext cx="2377440" cy="32004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Quality Bars</a:t>
            </a:r>
            <a:endParaRPr lang="en-US" sz="1500" dirty="0"/>
          </a:p>
        </p:txBody>
      </p:sp>
      <p:sp>
        <p:nvSpPr>
          <p:cNvPr id="18" name="Text 16"/>
          <p:cNvSpPr/>
          <p:nvPr/>
        </p:nvSpPr>
        <p:spPr>
          <a:xfrm>
            <a:off x="6217920" y="1691640"/>
            <a:ext cx="2423160" cy="1554480"/>
          </a:xfrm>
          <a:prstGeom prst="rect">
            <a:avLst/>
          </a:prstGeom>
          <a:noFill/>
          <a:ln/>
        </p:spPr>
        <p:txBody>
          <a:bodyPr wrap="square" lIns="0" tIns="0" rIns="0" bIns="0" rtlCol="0" anchor="ctr"/>
          <a:lstStyle/>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Canonical schema (one field language across sim &amp; real)</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Scenario splits by track / time / region (no leakage)</a:t>
            </a:r>
            <a:endParaRPr lang="en-US" sz="1100" dirty="0"/>
          </a:p>
          <a:p>
            <a:pPr marL="342900" indent="-342900">
              <a:buSzPct val="100000"/>
              <a:buChar char="•"/>
            </a:pPr>
            <a:r>
              <a:rPr lang="en-US" sz="1100" dirty="0">
                <a:solidFill>
                  <a:srgbClr val="94A3B8"/>
                </a:solidFill>
                <a:latin typeface="Calibri" pitchFamily="34" charset="0"/>
                <a:ea typeface="Calibri" pitchFamily="34" charset="-122"/>
                <a:cs typeface="Calibri" pitchFamily="34" charset="-120"/>
              </a:rPr>
              <a:t>Hard negatives: crossing tracks, multi-radar bias, dropouts</a:t>
            </a:r>
            <a:endParaRPr lang="en-US" sz="1100" dirty="0"/>
          </a:p>
        </p:txBody>
      </p:sp>
      <p:sp>
        <p:nvSpPr>
          <p:cNvPr id="19" name="Shape 17"/>
          <p:cNvSpPr/>
          <p:nvPr/>
        </p:nvSpPr>
        <p:spPr>
          <a:xfrm>
            <a:off x="411480" y="3566160"/>
            <a:ext cx="8321040" cy="1005840"/>
          </a:xfrm>
          <a:prstGeom prst="roundRect">
            <a:avLst>
              <a:gd name="adj" fmla="val 7273"/>
            </a:avLst>
          </a:prstGeom>
          <a:solidFill>
            <a:srgbClr val="172033"/>
          </a:solidFill>
          <a:ln w="12700">
            <a:solidFill>
              <a:srgbClr val="334155"/>
            </a:solidFill>
            <a:prstDash val="solid"/>
          </a:ln>
        </p:spPr>
      </p:sp>
      <p:sp>
        <p:nvSpPr>
          <p:cNvPr id="20" name="Text 18"/>
          <p:cNvSpPr/>
          <p:nvPr/>
        </p:nvSpPr>
        <p:spPr>
          <a:xfrm>
            <a:off x="594360" y="3703320"/>
            <a:ext cx="7955280" cy="25603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Current project assets</a:t>
            </a:r>
            <a:endParaRPr lang="en-US" sz="1300" dirty="0"/>
          </a:p>
        </p:txBody>
      </p:sp>
      <p:sp>
        <p:nvSpPr>
          <p:cNvPr id="21" name="Text 19"/>
          <p:cNvSpPr/>
          <p:nvPr/>
        </p:nvSpPr>
        <p:spPr>
          <a:xfrm>
            <a:off x="594360" y="4005072"/>
            <a:ext cx="7955280" cy="457200"/>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Synthetic multi-radar JSONL streams · CAT-62–derived scenarios · Pairwise/clutter training sets · Eval metrics (MOTA, MOTP, ID switches). Gap: clean regional real-data packages and consistent GT kinematics remain a risk for pure end-to-end models.</a:t>
            </a:r>
            <a:endParaRPr lang="en-US" sz="1200" dirty="0"/>
          </a:p>
        </p:txBody>
      </p:sp>
      <p:sp>
        <p:nvSpPr>
          <p:cNvPr id="22" name="Text 20"/>
          <p:cNvSpPr/>
          <p:nvPr/>
        </p:nvSpPr>
        <p:spPr>
          <a:xfrm>
            <a:off x="7955280" y="4800600"/>
            <a:ext cx="822960" cy="22860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5 / 7</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w="12700">
            <a:solidFill>
              <a:srgbClr val="38BDF8"/>
            </a:solidFill>
            <a:prstDash val="solid"/>
          </a:ln>
        </p:spPr>
      </p:sp>
      <p:sp>
        <p:nvSpPr>
          <p:cNvPr id="3" name="Text 1"/>
          <p:cNvSpPr/>
          <p:nvPr/>
        </p:nvSpPr>
        <p:spPr>
          <a:xfrm>
            <a:off x="411480" y="201168"/>
            <a:ext cx="8321040" cy="237744"/>
          </a:xfrm>
          <a:prstGeom prst="rect">
            <a:avLst/>
          </a:prstGeom>
          <a:noFill/>
          <a:ln/>
        </p:spPr>
        <p:txBody>
          <a:bodyPr wrap="square" lIns="0" tIns="0" rIns="0" bIns="0" rtlCol="0" anchor="ctr"/>
          <a:lstStyle/>
          <a:p>
            <a:pPr indent="0" marL="0">
              <a:buNone/>
            </a:pPr>
            <a:r>
              <a:rPr lang="en-US" sz="1100" b="1" spc="120" kern="0" dirty="0">
                <a:solidFill>
                  <a:srgbClr val="38BDF8"/>
                </a:solidFill>
                <a:latin typeface="Calibri" pitchFamily="34" charset="0"/>
                <a:ea typeface="Calibri" pitchFamily="34" charset="-122"/>
                <a:cs typeface="Calibri" pitchFamily="34" charset="-120"/>
              </a:rPr>
              <a:t>CAPSTONE  ·  AIR TRAFFIC SURVEILLANCE</a:t>
            </a:r>
            <a:endParaRPr lang="en-US" sz="1100" dirty="0"/>
          </a:p>
        </p:txBody>
      </p:sp>
      <p:sp>
        <p:nvSpPr>
          <p:cNvPr id="4" name="Text 2"/>
          <p:cNvSpPr/>
          <p:nvPr/>
        </p:nvSpPr>
        <p:spPr>
          <a:xfrm>
            <a:off x="411480" y="438912"/>
            <a:ext cx="832104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Deliverable and Due Date</a:t>
            </a:r>
            <a:endParaRPr lang="en-US" sz="2800" dirty="0"/>
          </a:p>
        </p:txBody>
      </p:sp>
      <p:sp>
        <p:nvSpPr>
          <p:cNvPr id="5" name="Text 3"/>
          <p:cNvSpPr/>
          <p:nvPr/>
        </p:nvSpPr>
        <p:spPr>
          <a:xfrm>
            <a:off x="411480" y="18288"/>
            <a:ext cx="5852160" cy="164592"/>
          </a:xfrm>
          <a:prstGeom prst="rect">
            <a:avLst/>
          </a:prstGeom>
          <a:noFill/>
          <a:ln/>
        </p:spPr>
        <p:txBody>
          <a:bodyPr wrap="square" lIns="0" tIns="0" rIns="0" bIns="0" rtlCol="0" anchor="ctr"/>
          <a:lstStyle/>
          <a:p>
            <a:pPr indent="0" marL="0">
              <a:buNone/>
            </a:pPr>
            <a:r>
              <a:rPr lang="en-US" sz="800" b="1" dirty="0">
                <a:solidFill>
                  <a:srgbClr val="FECACA"/>
                </a:solidFill>
                <a:latin typeface="Calibri" pitchFamily="34" charset="0"/>
                <a:ea typeface="Calibri" pitchFamily="34" charset="-122"/>
                <a:cs typeface="Calibri" pitchFamily="34" charset="-120"/>
              </a:rPr>
              <a:t>LOCKHEED MARTIN PROPRIETARY INFORMATION</a:t>
            </a:r>
            <a:endParaRPr lang="en-US" sz="800" dirty="0"/>
          </a:p>
        </p:txBody>
      </p:sp>
      <p:sp>
        <p:nvSpPr>
          <p:cNvPr id="6" name="Text 4"/>
          <p:cNvSpPr/>
          <p:nvPr/>
        </p:nvSpPr>
        <p:spPr>
          <a:xfrm>
            <a:off x="411480" y="4919472"/>
            <a:ext cx="749808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Thomas Rathbun, PhD  ·  LOCKHEED MARTIN PROPRIETARY INFORMATION</a:t>
            </a:r>
            <a:endParaRPr lang="en-US" sz="900" dirty="0"/>
          </a:p>
        </p:txBody>
      </p:sp>
      <p:sp>
        <p:nvSpPr>
          <p:cNvPr id="7" name="Shape 5"/>
          <p:cNvSpPr/>
          <p:nvPr/>
        </p:nvSpPr>
        <p:spPr>
          <a:xfrm>
            <a:off x="411480" y="1051560"/>
            <a:ext cx="8321040" cy="777240"/>
          </a:xfrm>
          <a:prstGeom prst="roundRect">
            <a:avLst>
              <a:gd name="adj" fmla="val 9412"/>
            </a:avLst>
          </a:prstGeom>
          <a:solidFill>
            <a:srgbClr val="1A2333"/>
          </a:solidFill>
          <a:ln w="12700">
            <a:solidFill>
              <a:srgbClr val="334155"/>
            </a:solidFill>
            <a:prstDash val="solid"/>
          </a:ln>
        </p:spPr>
      </p:sp>
      <p:sp>
        <p:nvSpPr>
          <p:cNvPr id="8" name="Shape 6"/>
          <p:cNvSpPr/>
          <p:nvPr/>
        </p:nvSpPr>
        <p:spPr>
          <a:xfrm>
            <a:off x="411480" y="1051560"/>
            <a:ext cx="8321040" cy="64008"/>
          </a:xfrm>
          <a:prstGeom prst="rect">
            <a:avLst/>
          </a:prstGeom>
          <a:solidFill>
            <a:srgbClr val="F59E0B"/>
          </a:solidFill>
          <a:ln w="12700">
            <a:solidFill>
              <a:srgbClr val="F59E0B"/>
            </a:solidFill>
            <a:prstDash val="solid"/>
          </a:ln>
        </p:spPr>
      </p:sp>
      <p:sp>
        <p:nvSpPr>
          <p:cNvPr id="9" name="Text 7"/>
          <p:cNvSpPr/>
          <p:nvPr/>
        </p:nvSpPr>
        <p:spPr>
          <a:xfrm>
            <a:off x="594360" y="1188720"/>
            <a:ext cx="7955280" cy="228600"/>
          </a:xfrm>
          <a:prstGeom prst="rect">
            <a:avLst/>
          </a:prstGeom>
          <a:noFill/>
          <a:ln/>
        </p:spPr>
        <p:txBody>
          <a:bodyPr wrap="square" lIns="0" tIns="0" rIns="0" bIns="0"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Hard constraint</a:t>
            </a:r>
            <a:endParaRPr lang="en-US" sz="1200" dirty="0"/>
          </a:p>
        </p:txBody>
      </p:sp>
      <p:sp>
        <p:nvSpPr>
          <p:cNvPr id="10" name="Text 8"/>
          <p:cNvSpPr/>
          <p:nvPr/>
        </p:nvSpPr>
        <p:spPr>
          <a:xfrm>
            <a:off x="594360" y="1417320"/>
            <a:ext cx="795528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Write-up due 2 Sep 2026 · Leave starts 20 Aug 2026 → all substantive work, demos, and draft write-up complete by 19 Aug 2026.</a:t>
            </a:r>
            <a:endParaRPr lang="en-US" sz="1400" dirty="0"/>
          </a:p>
        </p:txBody>
      </p:sp>
      <p:sp>
        <p:nvSpPr>
          <p:cNvPr id="11" name="Shape 9"/>
          <p:cNvSpPr/>
          <p:nvPr/>
        </p:nvSpPr>
        <p:spPr>
          <a:xfrm>
            <a:off x="411480" y="2011680"/>
            <a:ext cx="8321040" cy="475488"/>
          </a:xfrm>
          <a:prstGeom prst="roundRect">
            <a:avLst>
              <a:gd name="adj" fmla="val 15385"/>
            </a:avLst>
          </a:prstGeom>
          <a:solidFill>
            <a:srgbClr val="172033"/>
          </a:solidFill>
          <a:ln w="12700">
            <a:solidFill>
              <a:srgbClr val="334155"/>
            </a:solidFill>
            <a:prstDash val="solid"/>
          </a:ln>
        </p:spPr>
      </p:sp>
      <p:sp>
        <p:nvSpPr>
          <p:cNvPr id="12" name="Shape 10"/>
          <p:cNvSpPr/>
          <p:nvPr/>
        </p:nvSpPr>
        <p:spPr>
          <a:xfrm>
            <a:off x="566928" y="2121408"/>
            <a:ext cx="256032" cy="256032"/>
          </a:xfrm>
          <a:prstGeom prst="ellipse">
            <a:avLst/>
          </a:prstGeom>
          <a:solidFill>
            <a:srgbClr val="38BDF8"/>
          </a:solidFill>
          <a:ln w="12700">
            <a:solidFill>
              <a:srgbClr val="38BDF8"/>
            </a:solidFill>
            <a:prstDash val="solid"/>
          </a:ln>
        </p:spPr>
      </p:sp>
      <p:sp>
        <p:nvSpPr>
          <p:cNvPr id="13" name="Text 11"/>
          <p:cNvSpPr/>
          <p:nvPr/>
        </p:nvSpPr>
        <p:spPr>
          <a:xfrm>
            <a:off x="566928" y="2130552"/>
            <a:ext cx="256032" cy="237744"/>
          </a:xfrm>
          <a:prstGeom prst="rect">
            <a:avLst/>
          </a:prstGeom>
          <a:noFill/>
          <a:ln/>
        </p:spPr>
        <p:txBody>
          <a:bodyPr wrap="square" lIns="0" tIns="0" rIns="0" bIns="0" rtlCol="0" anchor="ctr"/>
          <a:lstStyle/>
          <a:p>
            <a:pPr algn="ctr" indent="0" marL="0">
              <a:buNone/>
            </a:pPr>
            <a:r>
              <a:rPr lang="en-US" sz="1100" b="1" dirty="0">
                <a:solidFill>
                  <a:srgbClr val="0B1220"/>
                </a:solidFill>
                <a:latin typeface="Calibri" pitchFamily="34" charset="0"/>
                <a:ea typeface="Calibri" pitchFamily="34" charset="-122"/>
                <a:cs typeface="Calibri" pitchFamily="34" charset="-120"/>
              </a:rPr>
              <a:t>1</a:t>
            </a:r>
            <a:endParaRPr lang="en-US" sz="1100" dirty="0"/>
          </a:p>
        </p:txBody>
      </p:sp>
      <p:sp>
        <p:nvSpPr>
          <p:cNvPr id="14" name="Text 12"/>
          <p:cNvSpPr/>
          <p:nvPr/>
        </p:nvSpPr>
        <p:spPr>
          <a:xfrm>
            <a:off x="1005840" y="2103120"/>
            <a:ext cx="23774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Technical write-up</a:t>
            </a:r>
            <a:endParaRPr lang="en-US" sz="1300" dirty="0"/>
          </a:p>
        </p:txBody>
      </p:sp>
      <p:sp>
        <p:nvSpPr>
          <p:cNvPr id="15" name="Text 13"/>
          <p:cNvSpPr/>
          <p:nvPr/>
        </p:nvSpPr>
        <p:spPr>
          <a:xfrm>
            <a:off x="3474720" y="2103120"/>
            <a:ext cx="3200400" cy="292608"/>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Problem, method, experiments, results, recommendations</a:t>
            </a:r>
            <a:endParaRPr lang="en-US" sz="1200" dirty="0"/>
          </a:p>
        </p:txBody>
      </p:sp>
      <p:sp>
        <p:nvSpPr>
          <p:cNvPr id="16" name="Text 14"/>
          <p:cNvSpPr/>
          <p:nvPr/>
        </p:nvSpPr>
        <p:spPr>
          <a:xfrm>
            <a:off x="6766560" y="2103120"/>
            <a:ext cx="1783080" cy="292608"/>
          </a:xfrm>
          <a:prstGeom prst="rect">
            <a:avLst/>
          </a:prstGeom>
          <a:noFill/>
          <a:ln/>
        </p:spPr>
        <p:txBody>
          <a:bodyPr wrap="square" lIns="0" tIns="0" rIns="0" bIns="0" rtlCol="0" anchor="ctr"/>
          <a:lstStyle/>
          <a:p>
            <a:pPr algn="r" indent="0" marL="0">
              <a:buNone/>
            </a:pPr>
            <a:r>
              <a:rPr lang="en-US" sz="1200" b="1" dirty="0">
                <a:solidFill>
                  <a:srgbClr val="A8C5E2"/>
                </a:solidFill>
                <a:latin typeface="Calibri" pitchFamily="34" charset="0"/>
                <a:ea typeface="Calibri" pitchFamily="34" charset="-122"/>
                <a:cs typeface="Calibri" pitchFamily="34" charset="-120"/>
              </a:rPr>
              <a:t>2 Sep (draft 19 Aug)</a:t>
            </a:r>
            <a:endParaRPr lang="en-US" sz="1200" dirty="0"/>
          </a:p>
        </p:txBody>
      </p:sp>
      <p:sp>
        <p:nvSpPr>
          <p:cNvPr id="17" name="Shape 15"/>
          <p:cNvSpPr/>
          <p:nvPr/>
        </p:nvSpPr>
        <p:spPr>
          <a:xfrm>
            <a:off x="411480" y="2542032"/>
            <a:ext cx="8321040" cy="475488"/>
          </a:xfrm>
          <a:prstGeom prst="roundRect">
            <a:avLst>
              <a:gd name="adj" fmla="val 15385"/>
            </a:avLst>
          </a:prstGeom>
          <a:solidFill>
            <a:srgbClr val="172033"/>
          </a:solidFill>
          <a:ln w="12700">
            <a:solidFill>
              <a:srgbClr val="334155"/>
            </a:solidFill>
            <a:prstDash val="solid"/>
          </a:ln>
        </p:spPr>
      </p:sp>
      <p:sp>
        <p:nvSpPr>
          <p:cNvPr id="18" name="Shape 16"/>
          <p:cNvSpPr/>
          <p:nvPr/>
        </p:nvSpPr>
        <p:spPr>
          <a:xfrm>
            <a:off x="566928" y="2651760"/>
            <a:ext cx="256032" cy="256032"/>
          </a:xfrm>
          <a:prstGeom prst="ellipse">
            <a:avLst/>
          </a:prstGeom>
          <a:solidFill>
            <a:srgbClr val="38BDF8"/>
          </a:solidFill>
          <a:ln w="12700">
            <a:solidFill>
              <a:srgbClr val="38BDF8"/>
            </a:solidFill>
            <a:prstDash val="solid"/>
          </a:ln>
        </p:spPr>
      </p:sp>
      <p:sp>
        <p:nvSpPr>
          <p:cNvPr id="19" name="Text 17"/>
          <p:cNvSpPr/>
          <p:nvPr/>
        </p:nvSpPr>
        <p:spPr>
          <a:xfrm>
            <a:off x="566928" y="2660904"/>
            <a:ext cx="256032" cy="237744"/>
          </a:xfrm>
          <a:prstGeom prst="rect">
            <a:avLst/>
          </a:prstGeom>
          <a:noFill/>
          <a:ln/>
        </p:spPr>
        <p:txBody>
          <a:bodyPr wrap="square" lIns="0" tIns="0" rIns="0" bIns="0" rtlCol="0" anchor="ctr"/>
          <a:lstStyle/>
          <a:p>
            <a:pPr algn="ctr" indent="0" marL="0">
              <a:buNone/>
            </a:pPr>
            <a:r>
              <a:rPr lang="en-US" sz="1100" b="1" dirty="0">
                <a:solidFill>
                  <a:srgbClr val="0B1220"/>
                </a:solidFill>
                <a:latin typeface="Calibri" pitchFamily="34" charset="0"/>
                <a:ea typeface="Calibri" pitchFamily="34" charset="-122"/>
                <a:cs typeface="Calibri" pitchFamily="34" charset="-120"/>
              </a:rPr>
              <a:t>2</a:t>
            </a:r>
            <a:endParaRPr lang="en-US" sz="1100" dirty="0"/>
          </a:p>
        </p:txBody>
      </p:sp>
      <p:sp>
        <p:nvSpPr>
          <p:cNvPr id="20" name="Text 18"/>
          <p:cNvSpPr/>
          <p:nvPr/>
        </p:nvSpPr>
        <p:spPr>
          <a:xfrm>
            <a:off x="1005840" y="2633472"/>
            <a:ext cx="23774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Working prototype</a:t>
            </a:r>
            <a:endParaRPr lang="en-US" sz="1300" dirty="0"/>
          </a:p>
        </p:txBody>
      </p:sp>
      <p:sp>
        <p:nvSpPr>
          <p:cNvPr id="21" name="Text 19"/>
          <p:cNvSpPr/>
          <p:nvPr/>
        </p:nvSpPr>
        <p:spPr>
          <a:xfrm>
            <a:off x="3474720" y="2633472"/>
            <a:ext cx="3200400" cy="292608"/>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Hybrid + pairwise pipeline; selected model experiments</a:t>
            </a:r>
            <a:endParaRPr lang="en-US" sz="1200" dirty="0"/>
          </a:p>
        </p:txBody>
      </p:sp>
      <p:sp>
        <p:nvSpPr>
          <p:cNvPr id="22" name="Text 20"/>
          <p:cNvSpPr/>
          <p:nvPr/>
        </p:nvSpPr>
        <p:spPr>
          <a:xfrm>
            <a:off x="6766560" y="2633472"/>
            <a:ext cx="1783080" cy="292608"/>
          </a:xfrm>
          <a:prstGeom prst="rect">
            <a:avLst/>
          </a:prstGeom>
          <a:noFill/>
          <a:ln/>
        </p:spPr>
        <p:txBody>
          <a:bodyPr wrap="square" lIns="0" tIns="0" rIns="0" bIns="0" rtlCol="0" anchor="ctr"/>
          <a:lstStyle/>
          <a:p>
            <a:pPr algn="r" indent="0" marL="0">
              <a:buNone/>
            </a:pPr>
            <a:r>
              <a:rPr lang="en-US" sz="1200" b="1" dirty="0">
                <a:solidFill>
                  <a:srgbClr val="A8C5E2"/>
                </a:solidFill>
                <a:latin typeface="Calibri" pitchFamily="34" charset="0"/>
                <a:ea typeface="Calibri" pitchFamily="34" charset="-122"/>
                <a:cs typeface="Calibri" pitchFamily="34" charset="-120"/>
              </a:rPr>
              <a:t>≤ 15 Aug</a:t>
            </a:r>
            <a:endParaRPr lang="en-US" sz="1200" dirty="0"/>
          </a:p>
        </p:txBody>
      </p:sp>
      <p:sp>
        <p:nvSpPr>
          <p:cNvPr id="23" name="Shape 21"/>
          <p:cNvSpPr/>
          <p:nvPr/>
        </p:nvSpPr>
        <p:spPr>
          <a:xfrm>
            <a:off x="411480" y="3072384"/>
            <a:ext cx="8321040" cy="475488"/>
          </a:xfrm>
          <a:prstGeom prst="roundRect">
            <a:avLst>
              <a:gd name="adj" fmla="val 15385"/>
            </a:avLst>
          </a:prstGeom>
          <a:solidFill>
            <a:srgbClr val="172033"/>
          </a:solidFill>
          <a:ln w="12700">
            <a:solidFill>
              <a:srgbClr val="334155"/>
            </a:solidFill>
            <a:prstDash val="solid"/>
          </a:ln>
        </p:spPr>
      </p:sp>
      <p:sp>
        <p:nvSpPr>
          <p:cNvPr id="24" name="Shape 22"/>
          <p:cNvSpPr/>
          <p:nvPr/>
        </p:nvSpPr>
        <p:spPr>
          <a:xfrm>
            <a:off x="566928" y="3182112"/>
            <a:ext cx="256032" cy="256032"/>
          </a:xfrm>
          <a:prstGeom prst="ellipse">
            <a:avLst/>
          </a:prstGeom>
          <a:solidFill>
            <a:srgbClr val="38BDF8"/>
          </a:solidFill>
          <a:ln w="12700">
            <a:solidFill>
              <a:srgbClr val="38BDF8"/>
            </a:solidFill>
            <a:prstDash val="solid"/>
          </a:ln>
        </p:spPr>
      </p:sp>
      <p:sp>
        <p:nvSpPr>
          <p:cNvPr id="25" name="Text 23"/>
          <p:cNvSpPr/>
          <p:nvPr/>
        </p:nvSpPr>
        <p:spPr>
          <a:xfrm>
            <a:off x="566928" y="3191256"/>
            <a:ext cx="256032" cy="237744"/>
          </a:xfrm>
          <a:prstGeom prst="rect">
            <a:avLst/>
          </a:prstGeom>
          <a:noFill/>
          <a:ln/>
        </p:spPr>
        <p:txBody>
          <a:bodyPr wrap="square" lIns="0" tIns="0" rIns="0" bIns="0" rtlCol="0" anchor="ctr"/>
          <a:lstStyle/>
          <a:p>
            <a:pPr algn="ctr" indent="0" marL="0">
              <a:buNone/>
            </a:pPr>
            <a:r>
              <a:rPr lang="en-US" sz="1100" b="1" dirty="0">
                <a:solidFill>
                  <a:srgbClr val="0B1220"/>
                </a:solidFill>
                <a:latin typeface="Calibri" pitchFamily="34" charset="0"/>
                <a:ea typeface="Calibri" pitchFamily="34" charset="-122"/>
                <a:cs typeface="Calibri" pitchFamily="34" charset="-120"/>
              </a:rPr>
              <a:t>3</a:t>
            </a:r>
            <a:endParaRPr lang="en-US" sz="1100" dirty="0"/>
          </a:p>
        </p:txBody>
      </p:sp>
      <p:sp>
        <p:nvSpPr>
          <p:cNvPr id="26" name="Text 24"/>
          <p:cNvSpPr/>
          <p:nvPr/>
        </p:nvSpPr>
        <p:spPr>
          <a:xfrm>
            <a:off x="1005840" y="3163824"/>
            <a:ext cx="23774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Evaluation package</a:t>
            </a:r>
            <a:endParaRPr lang="en-US" sz="1300" dirty="0"/>
          </a:p>
        </p:txBody>
      </p:sp>
      <p:sp>
        <p:nvSpPr>
          <p:cNvPr id="27" name="Text 25"/>
          <p:cNvSpPr/>
          <p:nvPr/>
        </p:nvSpPr>
        <p:spPr>
          <a:xfrm>
            <a:off x="3474720" y="3163824"/>
            <a:ext cx="3200400" cy="292608"/>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Metrics tables, plots/GIFs, baseline comparison</a:t>
            </a:r>
            <a:endParaRPr lang="en-US" sz="1200" dirty="0"/>
          </a:p>
        </p:txBody>
      </p:sp>
      <p:sp>
        <p:nvSpPr>
          <p:cNvPr id="28" name="Text 26"/>
          <p:cNvSpPr/>
          <p:nvPr/>
        </p:nvSpPr>
        <p:spPr>
          <a:xfrm>
            <a:off x="6766560" y="3163824"/>
            <a:ext cx="1783080" cy="292608"/>
          </a:xfrm>
          <a:prstGeom prst="rect">
            <a:avLst/>
          </a:prstGeom>
          <a:noFill/>
          <a:ln/>
        </p:spPr>
        <p:txBody>
          <a:bodyPr wrap="square" lIns="0" tIns="0" rIns="0" bIns="0" rtlCol="0" anchor="ctr"/>
          <a:lstStyle/>
          <a:p>
            <a:pPr algn="r" indent="0" marL="0">
              <a:buNone/>
            </a:pPr>
            <a:r>
              <a:rPr lang="en-US" sz="1200" b="1" dirty="0">
                <a:solidFill>
                  <a:srgbClr val="A8C5E2"/>
                </a:solidFill>
                <a:latin typeface="Calibri" pitchFamily="34" charset="0"/>
                <a:ea typeface="Calibri" pitchFamily="34" charset="-122"/>
                <a:cs typeface="Calibri" pitchFamily="34" charset="-120"/>
              </a:rPr>
              <a:t>≤ 18 Aug</a:t>
            </a:r>
            <a:endParaRPr lang="en-US" sz="1200" dirty="0"/>
          </a:p>
        </p:txBody>
      </p:sp>
      <p:sp>
        <p:nvSpPr>
          <p:cNvPr id="29" name="Shape 27"/>
          <p:cNvSpPr/>
          <p:nvPr/>
        </p:nvSpPr>
        <p:spPr>
          <a:xfrm>
            <a:off x="411480" y="3602736"/>
            <a:ext cx="8321040" cy="475488"/>
          </a:xfrm>
          <a:prstGeom prst="roundRect">
            <a:avLst>
              <a:gd name="adj" fmla="val 15385"/>
            </a:avLst>
          </a:prstGeom>
          <a:solidFill>
            <a:srgbClr val="172033"/>
          </a:solidFill>
          <a:ln w="12700">
            <a:solidFill>
              <a:srgbClr val="334155"/>
            </a:solidFill>
            <a:prstDash val="solid"/>
          </a:ln>
        </p:spPr>
      </p:sp>
      <p:sp>
        <p:nvSpPr>
          <p:cNvPr id="30" name="Shape 28"/>
          <p:cNvSpPr/>
          <p:nvPr/>
        </p:nvSpPr>
        <p:spPr>
          <a:xfrm>
            <a:off x="566928" y="3712464"/>
            <a:ext cx="256032" cy="256032"/>
          </a:xfrm>
          <a:prstGeom prst="ellipse">
            <a:avLst/>
          </a:prstGeom>
          <a:solidFill>
            <a:srgbClr val="38BDF8"/>
          </a:solidFill>
          <a:ln w="12700">
            <a:solidFill>
              <a:srgbClr val="38BDF8"/>
            </a:solidFill>
            <a:prstDash val="solid"/>
          </a:ln>
        </p:spPr>
      </p:sp>
      <p:sp>
        <p:nvSpPr>
          <p:cNvPr id="31" name="Text 29"/>
          <p:cNvSpPr/>
          <p:nvPr/>
        </p:nvSpPr>
        <p:spPr>
          <a:xfrm>
            <a:off x="566928" y="3721608"/>
            <a:ext cx="256032" cy="237744"/>
          </a:xfrm>
          <a:prstGeom prst="rect">
            <a:avLst/>
          </a:prstGeom>
          <a:noFill/>
          <a:ln/>
        </p:spPr>
        <p:txBody>
          <a:bodyPr wrap="square" lIns="0" tIns="0" rIns="0" bIns="0" rtlCol="0" anchor="ctr"/>
          <a:lstStyle/>
          <a:p>
            <a:pPr algn="ctr" indent="0" marL="0">
              <a:buNone/>
            </a:pPr>
            <a:r>
              <a:rPr lang="en-US" sz="1100" b="1" dirty="0">
                <a:solidFill>
                  <a:srgbClr val="0B1220"/>
                </a:solidFill>
                <a:latin typeface="Calibri" pitchFamily="34" charset="0"/>
                <a:ea typeface="Calibri" pitchFamily="34" charset="-122"/>
                <a:cs typeface="Calibri" pitchFamily="34" charset="-120"/>
              </a:rPr>
              <a:t>4</a:t>
            </a:r>
            <a:endParaRPr lang="en-US" sz="1100" dirty="0"/>
          </a:p>
        </p:txBody>
      </p:sp>
      <p:sp>
        <p:nvSpPr>
          <p:cNvPr id="32" name="Text 30"/>
          <p:cNvSpPr/>
          <p:nvPr/>
        </p:nvSpPr>
        <p:spPr>
          <a:xfrm>
            <a:off x="1005840" y="3694176"/>
            <a:ext cx="237744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Stakeholder brief</a:t>
            </a:r>
            <a:endParaRPr lang="en-US" sz="1300" dirty="0"/>
          </a:p>
        </p:txBody>
      </p:sp>
      <p:sp>
        <p:nvSpPr>
          <p:cNvPr id="33" name="Text 31"/>
          <p:cNvSpPr/>
          <p:nvPr/>
        </p:nvSpPr>
        <p:spPr>
          <a:xfrm>
            <a:off x="3474720" y="3694176"/>
            <a:ext cx="3200400" cy="292608"/>
          </a:xfrm>
          <a:prstGeom prst="rect">
            <a:avLst/>
          </a:prstGeom>
          <a:noFill/>
          <a:ln/>
        </p:spPr>
        <p:txBody>
          <a:bodyPr wrap="square" lIns="0" tIns="0" rIns="0" bIns="0" rtlCol="0" anchor="ctr"/>
          <a:lstStyle/>
          <a:p>
            <a:pPr indent="0" marL="0">
              <a:buNone/>
            </a:pPr>
            <a:r>
              <a:rPr lang="en-US" sz="1200" dirty="0">
                <a:solidFill>
                  <a:srgbClr val="94A3B8"/>
                </a:solidFill>
                <a:latin typeface="Calibri" pitchFamily="34" charset="0"/>
                <a:ea typeface="Calibri" pitchFamily="34" charset="-122"/>
                <a:cs typeface="Calibri" pitchFamily="34" charset="-120"/>
              </a:rPr>
              <a:t>This deck + short demo narrative</a:t>
            </a:r>
            <a:endParaRPr lang="en-US" sz="1200" dirty="0"/>
          </a:p>
        </p:txBody>
      </p:sp>
      <p:sp>
        <p:nvSpPr>
          <p:cNvPr id="34" name="Text 32"/>
          <p:cNvSpPr/>
          <p:nvPr/>
        </p:nvSpPr>
        <p:spPr>
          <a:xfrm>
            <a:off x="6766560" y="3694176"/>
            <a:ext cx="1783080" cy="292608"/>
          </a:xfrm>
          <a:prstGeom prst="rect">
            <a:avLst/>
          </a:prstGeom>
          <a:noFill/>
          <a:ln/>
        </p:spPr>
        <p:txBody>
          <a:bodyPr wrap="square" lIns="0" tIns="0" rIns="0" bIns="0" rtlCol="0" anchor="ctr"/>
          <a:lstStyle/>
          <a:p>
            <a:pPr algn="r" indent="0" marL="0">
              <a:buNone/>
            </a:pPr>
            <a:r>
              <a:rPr lang="en-US" sz="1200" b="1" dirty="0">
                <a:solidFill>
                  <a:srgbClr val="A8C5E2"/>
                </a:solidFill>
                <a:latin typeface="Calibri" pitchFamily="34" charset="0"/>
                <a:ea typeface="Calibri" pitchFamily="34" charset="-122"/>
                <a:cs typeface="Calibri" pitchFamily="34" charset="-120"/>
              </a:rPr>
              <a:t>≤ 19 Aug</a:t>
            </a:r>
            <a:endParaRPr lang="en-US" sz="1200" dirty="0"/>
          </a:p>
        </p:txBody>
      </p:sp>
      <p:sp>
        <p:nvSpPr>
          <p:cNvPr id="35" name="Text 33"/>
          <p:cNvSpPr/>
          <p:nvPr/>
        </p:nvSpPr>
        <p:spPr>
          <a:xfrm>
            <a:off x="7955280" y="4800600"/>
            <a:ext cx="822960" cy="22860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6 / 7</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220"/>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38BDF8"/>
          </a:solidFill>
          <a:ln w="12700">
            <a:solidFill>
              <a:srgbClr val="38BDF8"/>
            </a:solidFill>
            <a:prstDash val="solid"/>
          </a:ln>
        </p:spPr>
      </p:sp>
      <p:sp>
        <p:nvSpPr>
          <p:cNvPr id="3" name="Text 1"/>
          <p:cNvSpPr/>
          <p:nvPr/>
        </p:nvSpPr>
        <p:spPr>
          <a:xfrm>
            <a:off x="411480" y="201168"/>
            <a:ext cx="8321040" cy="237744"/>
          </a:xfrm>
          <a:prstGeom prst="rect">
            <a:avLst/>
          </a:prstGeom>
          <a:noFill/>
          <a:ln/>
        </p:spPr>
        <p:txBody>
          <a:bodyPr wrap="square" lIns="0" tIns="0" rIns="0" bIns="0" rtlCol="0" anchor="ctr"/>
          <a:lstStyle/>
          <a:p>
            <a:pPr indent="0" marL="0">
              <a:buNone/>
            </a:pPr>
            <a:r>
              <a:rPr lang="en-US" sz="1100" b="1" spc="120" kern="0" dirty="0">
                <a:solidFill>
                  <a:srgbClr val="38BDF8"/>
                </a:solidFill>
                <a:latin typeface="Calibri" pitchFamily="34" charset="0"/>
                <a:ea typeface="Calibri" pitchFamily="34" charset="-122"/>
                <a:cs typeface="Calibri" pitchFamily="34" charset="-120"/>
              </a:rPr>
              <a:t>CAPSTONE  ·  AIR TRAFFIC SURVEILLANCE</a:t>
            </a:r>
            <a:endParaRPr lang="en-US" sz="1100" dirty="0"/>
          </a:p>
        </p:txBody>
      </p:sp>
      <p:sp>
        <p:nvSpPr>
          <p:cNvPr id="4" name="Text 2"/>
          <p:cNvSpPr/>
          <p:nvPr/>
        </p:nvSpPr>
        <p:spPr>
          <a:xfrm>
            <a:off x="411480" y="438912"/>
            <a:ext cx="8321040" cy="457200"/>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Risks / Issues</a:t>
            </a:r>
            <a:endParaRPr lang="en-US" sz="2800" dirty="0"/>
          </a:p>
        </p:txBody>
      </p:sp>
      <p:sp>
        <p:nvSpPr>
          <p:cNvPr id="5" name="Text 3"/>
          <p:cNvSpPr/>
          <p:nvPr/>
        </p:nvSpPr>
        <p:spPr>
          <a:xfrm>
            <a:off x="411480" y="18288"/>
            <a:ext cx="5852160" cy="164592"/>
          </a:xfrm>
          <a:prstGeom prst="rect">
            <a:avLst/>
          </a:prstGeom>
          <a:noFill/>
          <a:ln/>
        </p:spPr>
        <p:txBody>
          <a:bodyPr wrap="square" lIns="0" tIns="0" rIns="0" bIns="0" rtlCol="0" anchor="ctr"/>
          <a:lstStyle/>
          <a:p>
            <a:pPr indent="0" marL="0">
              <a:buNone/>
            </a:pPr>
            <a:r>
              <a:rPr lang="en-US" sz="800" b="1" dirty="0">
                <a:solidFill>
                  <a:srgbClr val="FECACA"/>
                </a:solidFill>
                <a:latin typeface="Calibri" pitchFamily="34" charset="0"/>
                <a:ea typeface="Calibri" pitchFamily="34" charset="-122"/>
                <a:cs typeface="Calibri" pitchFamily="34" charset="-120"/>
              </a:rPr>
              <a:t>LOCKHEED MARTIN PROPRIETARY INFORMATION</a:t>
            </a:r>
            <a:endParaRPr lang="en-US" sz="800" dirty="0"/>
          </a:p>
        </p:txBody>
      </p:sp>
      <p:sp>
        <p:nvSpPr>
          <p:cNvPr id="6" name="Text 4"/>
          <p:cNvSpPr/>
          <p:nvPr/>
        </p:nvSpPr>
        <p:spPr>
          <a:xfrm>
            <a:off x="411480" y="4919472"/>
            <a:ext cx="7498080" cy="182880"/>
          </a:xfrm>
          <a:prstGeom prst="rect">
            <a:avLst/>
          </a:prstGeom>
          <a:noFill/>
          <a:ln/>
        </p:spPr>
        <p:txBody>
          <a:bodyPr wrap="square" lIns="0" tIns="0" rIns="0" bIns="0" rtlCol="0" anchor="ctr"/>
          <a:lstStyle/>
          <a:p>
            <a:pPr indent="0" marL="0">
              <a:buNone/>
            </a:pPr>
            <a:r>
              <a:rPr lang="en-US" sz="900" dirty="0">
                <a:solidFill>
                  <a:srgbClr val="94A3B8"/>
                </a:solidFill>
                <a:latin typeface="Calibri" pitchFamily="34" charset="0"/>
                <a:ea typeface="Calibri" pitchFamily="34" charset="-122"/>
                <a:cs typeface="Calibri" pitchFamily="34" charset="-120"/>
              </a:rPr>
              <a:t>Thomas Rathbun, PhD  ·  LOCKHEED MARTIN PROPRIETARY INFORMATION</a:t>
            </a:r>
            <a:endParaRPr lang="en-US" sz="900" dirty="0"/>
          </a:p>
        </p:txBody>
      </p:sp>
      <p:sp>
        <p:nvSpPr>
          <p:cNvPr id="7" name="Shape 5"/>
          <p:cNvSpPr/>
          <p:nvPr/>
        </p:nvSpPr>
        <p:spPr>
          <a:xfrm>
            <a:off x="411480" y="1005840"/>
            <a:ext cx="8321040" cy="658368"/>
          </a:xfrm>
          <a:prstGeom prst="roundRect">
            <a:avLst>
              <a:gd name="adj" fmla="val 11111"/>
            </a:avLst>
          </a:prstGeom>
          <a:solidFill>
            <a:srgbClr val="172033"/>
          </a:solidFill>
          <a:ln w="12700">
            <a:solidFill>
              <a:srgbClr val="334155"/>
            </a:solidFill>
            <a:prstDash val="solid"/>
          </a:ln>
        </p:spPr>
      </p:sp>
      <p:sp>
        <p:nvSpPr>
          <p:cNvPr id="8" name="Shape 6"/>
          <p:cNvSpPr/>
          <p:nvPr/>
        </p:nvSpPr>
        <p:spPr>
          <a:xfrm>
            <a:off x="530352" y="1188720"/>
            <a:ext cx="640080" cy="292608"/>
          </a:xfrm>
          <a:prstGeom prst="roundRect">
            <a:avLst>
              <a:gd name="adj" fmla="val 12500"/>
            </a:avLst>
          </a:prstGeom>
          <a:solidFill>
            <a:srgbClr val="F87171"/>
          </a:solidFill>
          <a:ln w="12700">
            <a:solidFill>
              <a:srgbClr val="F87171"/>
            </a:solidFill>
            <a:prstDash val="solid"/>
          </a:ln>
        </p:spPr>
      </p:sp>
      <p:sp>
        <p:nvSpPr>
          <p:cNvPr id="9" name="Text 7"/>
          <p:cNvSpPr/>
          <p:nvPr/>
        </p:nvSpPr>
        <p:spPr>
          <a:xfrm>
            <a:off x="530352" y="1207008"/>
            <a:ext cx="640080" cy="25603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HIGH</a:t>
            </a:r>
            <a:endParaRPr lang="en-US" sz="1000" dirty="0"/>
          </a:p>
        </p:txBody>
      </p:sp>
      <p:sp>
        <p:nvSpPr>
          <p:cNvPr id="10" name="Text 8"/>
          <p:cNvSpPr/>
          <p:nvPr/>
        </p:nvSpPr>
        <p:spPr>
          <a:xfrm>
            <a:off x="1325880" y="1078992"/>
            <a:ext cx="72237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Schedule compression (leave 20 Aug)</a:t>
            </a:r>
            <a:endParaRPr lang="en-US" sz="1300" dirty="0"/>
          </a:p>
        </p:txBody>
      </p:sp>
      <p:sp>
        <p:nvSpPr>
          <p:cNvPr id="11" name="Text 9"/>
          <p:cNvSpPr/>
          <p:nvPr/>
        </p:nvSpPr>
        <p:spPr>
          <a:xfrm>
            <a:off x="1325880" y="1316736"/>
            <a:ext cx="722376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Official due date is 2 Sep, but availability ends 19 Aug. Mitigation: freeze scope now; finalize draft + metrics before leave; buffer only for light edits if reachable remotely.</a:t>
            </a:r>
            <a:endParaRPr lang="en-US" sz="1100" dirty="0"/>
          </a:p>
        </p:txBody>
      </p:sp>
      <p:sp>
        <p:nvSpPr>
          <p:cNvPr id="12" name="Shape 10"/>
          <p:cNvSpPr/>
          <p:nvPr/>
        </p:nvSpPr>
        <p:spPr>
          <a:xfrm>
            <a:off x="411480" y="1719072"/>
            <a:ext cx="8321040" cy="658368"/>
          </a:xfrm>
          <a:prstGeom prst="roundRect">
            <a:avLst>
              <a:gd name="adj" fmla="val 11111"/>
            </a:avLst>
          </a:prstGeom>
          <a:solidFill>
            <a:srgbClr val="172033"/>
          </a:solidFill>
          <a:ln w="12700">
            <a:solidFill>
              <a:srgbClr val="334155"/>
            </a:solidFill>
            <a:prstDash val="solid"/>
          </a:ln>
        </p:spPr>
      </p:sp>
      <p:sp>
        <p:nvSpPr>
          <p:cNvPr id="13" name="Shape 11"/>
          <p:cNvSpPr/>
          <p:nvPr/>
        </p:nvSpPr>
        <p:spPr>
          <a:xfrm>
            <a:off x="530352" y="1901952"/>
            <a:ext cx="640080" cy="292608"/>
          </a:xfrm>
          <a:prstGeom prst="roundRect">
            <a:avLst>
              <a:gd name="adj" fmla="val 12500"/>
            </a:avLst>
          </a:prstGeom>
          <a:solidFill>
            <a:srgbClr val="F87171"/>
          </a:solidFill>
          <a:ln w="12700">
            <a:solidFill>
              <a:srgbClr val="F87171"/>
            </a:solidFill>
            <a:prstDash val="solid"/>
          </a:ln>
        </p:spPr>
      </p:sp>
      <p:sp>
        <p:nvSpPr>
          <p:cNvPr id="14" name="Text 12"/>
          <p:cNvSpPr/>
          <p:nvPr/>
        </p:nvSpPr>
        <p:spPr>
          <a:xfrm>
            <a:off x="530352" y="1920240"/>
            <a:ext cx="640080" cy="25603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HIGH</a:t>
            </a:r>
            <a:endParaRPr lang="en-US" sz="1000" dirty="0"/>
          </a:p>
        </p:txBody>
      </p:sp>
      <p:sp>
        <p:nvSpPr>
          <p:cNvPr id="15" name="Text 13"/>
          <p:cNvSpPr/>
          <p:nvPr/>
        </p:nvSpPr>
        <p:spPr>
          <a:xfrm>
            <a:off x="1325880" y="1792224"/>
            <a:ext cx="72237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quality &amp; label noise</a:t>
            </a:r>
            <a:endParaRPr lang="en-US" sz="1300" dirty="0"/>
          </a:p>
        </p:txBody>
      </p:sp>
      <p:sp>
        <p:nvSpPr>
          <p:cNvPr id="16" name="Text 14"/>
          <p:cNvSpPr/>
          <p:nvPr/>
        </p:nvSpPr>
        <p:spPr>
          <a:xfrm>
            <a:off x="1325880" y="2029968"/>
            <a:ext cx="722376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Schema inconsistency, reconstructed GT, and region mislabels hurt pure end-to-end models. Mitigation: prioritize hybrid baseline; document data gaps honestly; fix only highest-impact QA items.</a:t>
            </a:r>
            <a:endParaRPr lang="en-US" sz="1100" dirty="0"/>
          </a:p>
        </p:txBody>
      </p:sp>
      <p:sp>
        <p:nvSpPr>
          <p:cNvPr id="17" name="Shape 15"/>
          <p:cNvSpPr/>
          <p:nvPr/>
        </p:nvSpPr>
        <p:spPr>
          <a:xfrm>
            <a:off x="411480" y="2432304"/>
            <a:ext cx="8321040" cy="658368"/>
          </a:xfrm>
          <a:prstGeom prst="roundRect">
            <a:avLst>
              <a:gd name="adj" fmla="val 11111"/>
            </a:avLst>
          </a:prstGeom>
          <a:solidFill>
            <a:srgbClr val="172033"/>
          </a:solidFill>
          <a:ln w="12700">
            <a:solidFill>
              <a:srgbClr val="334155"/>
            </a:solidFill>
            <a:prstDash val="solid"/>
          </a:ln>
        </p:spPr>
      </p:sp>
      <p:sp>
        <p:nvSpPr>
          <p:cNvPr id="18" name="Shape 16"/>
          <p:cNvSpPr/>
          <p:nvPr/>
        </p:nvSpPr>
        <p:spPr>
          <a:xfrm>
            <a:off x="530352" y="2615184"/>
            <a:ext cx="640080" cy="292608"/>
          </a:xfrm>
          <a:prstGeom prst="roundRect">
            <a:avLst>
              <a:gd name="adj" fmla="val 12500"/>
            </a:avLst>
          </a:prstGeom>
          <a:solidFill>
            <a:srgbClr val="F59E0B"/>
          </a:solidFill>
          <a:ln w="12700">
            <a:solidFill>
              <a:srgbClr val="F59E0B"/>
            </a:solidFill>
            <a:prstDash val="solid"/>
          </a:ln>
        </p:spPr>
      </p:sp>
      <p:sp>
        <p:nvSpPr>
          <p:cNvPr id="19" name="Text 17"/>
          <p:cNvSpPr/>
          <p:nvPr/>
        </p:nvSpPr>
        <p:spPr>
          <a:xfrm>
            <a:off x="530352" y="2633472"/>
            <a:ext cx="640080" cy="25603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MED</a:t>
            </a:r>
            <a:endParaRPr lang="en-US" sz="1000" dirty="0"/>
          </a:p>
        </p:txBody>
      </p:sp>
      <p:sp>
        <p:nvSpPr>
          <p:cNvPr id="20" name="Text 18"/>
          <p:cNvSpPr/>
          <p:nvPr/>
        </p:nvSpPr>
        <p:spPr>
          <a:xfrm>
            <a:off x="1325880" y="2505456"/>
            <a:ext cx="72237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End-to-end GNN underperformance</a:t>
            </a:r>
            <a:endParaRPr lang="en-US" sz="1300" dirty="0"/>
          </a:p>
        </p:txBody>
      </p:sp>
      <p:sp>
        <p:nvSpPr>
          <p:cNvPr id="21" name="Text 19"/>
          <p:cNvSpPr/>
          <p:nvPr/>
        </p:nvSpPr>
        <p:spPr>
          <a:xfrm>
            <a:off x="1325880" y="2743200"/>
            <a:ext cx="722376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Pure GAT models lag hybrid on async streams. Mitigation: treat as research finding, not failure; recommend transformer association + KF path as future work.</a:t>
            </a:r>
            <a:endParaRPr lang="en-US" sz="1100" dirty="0"/>
          </a:p>
        </p:txBody>
      </p:sp>
      <p:sp>
        <p:nvSpPr>
          <p:cNvPr id="22" name="Shape 20"/>
          <p:cNvSpPr/>
          <p:nvPr/>
        </p:nvSpPr>
        <p:spPr>
          <a:xfrm>
            <a:off x="411480" y="3145536"/>
            <a:ext cx="8321040" cy="658368"/>
          </a:xfrm>
          <a:prstGeom prst="roundRect">
            <a:avLst>
              <a:gd name="adj" fmla="val 11111"/>
            </a:avLst>
          </a:prstGeom>
          <a:solidFill>
            <a:srgbClr val="172033"/>
          </a:solidFill>
          <a:ln w="12700">
            <a:solidFill>
              <a:srgbClr val="334155"/>
            </a:solidFill>
            <a:prstDash val="solid"/>
          </a:ln>
        </p:spPr>
      </p:sp>
      <p:sp>
        <p:nvSpPr>
          <p:cNvPr id="23" name="Shape 21"/>
          <p:cNvSpPr/>
          <p:nvPr/>
        </p:nvSpPr>
        <p:spPr>
          <a:xfrm>
            <a:off x="530352" y="3328416"/>
            <a:ext cx="640080" cy="292608"/>
          </a:xfrm>
          <a:prstGeom prst="roundRect">
            <a:avLst>
              <a:gd name="adj" fmla="val 12500"/>
            </a:avLst>
          </a:prstGeom>
          <a:solidFill>
            <a:srgbClr val="F59E0B"/>
          </a:solidFill>
          <a:ln w="12700">
            <a:solidFill>
              <a:srgbClr val="F59E0B"/>
            </a:solidFill>
            <a:prstDash val="solid"/>
          </a:ln>
        </p:spPr>
      </p:sp>
      <p:sp>
        <p:nvSpPr>
          <p:cNvPr id="24" name="Text 22"/>
          <p:cNvSpPr/>
          <p:nvPr/>
        </p:nvSpPr>
        <p:spPr>
          <a:xfrm>
            <a:off x="530352" y="3346704"/>
            <a:ext cx="640080" cy="25603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MED</a:t>
            </a:r>
            <a:endParaRPr lang="en-US" sz="1000" dirty="0"/>
          </a:p>
        </p:txBody>
      </p:sp>
      <p:sp>
        <p:nvSpPr>
          <p:cNvPr id="25" name="Text 23"/>
          <p:cNvSpPr/>
          <p:nvPr/>
        </p:nvSpPr>
        <p:spPr>
          <a:xfrm>
            <a:off x="1325880" y="3218688"/>
            <a:ext cx="72237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Scope creep (new architectures)</a:t>
            </a:r>
            <a:endParaRPr lang="en-US" sz="1300" dirty="0"/>
          </a:p>
        </p:txBody>
      </p:sp>
      <p:sp>
        <p:nvSpPr>
          <p:cNvPr id="26" name="Text 24"/>
          <p:cNvSpPr/>
          <p:nvPr/>
        </p:nvSpPr>
        <p:spPr>
          <a:xfrm>
            <a:off x="1325880" y="3456432"/>
            <a:ext cx="722376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Full transformer rebuild may not fit pre-leave window. Mitigation: architecture proposal + limited prototype only if hybrid write-up is locked first.</a:t>
            </a:r>
            <a:endParaRPr lang="en-US" sz="1100" dirty="0"/>
          </a:p>
        </p:txBody>
      </p:sp>
      <p:sp>
        <p:nvSpPr>
          <p:cNvPr id="27" name="Shape 25"/>
          <p:cNvSpPr/>
          <p:nvPr/>
        </p:nvSpPr>
        <p:spPr>
          <a:xfrm>
            <a:off x="411480" y="3858768"/>
            <a:ext cx="8321040" cy="658368"/>
          </a:xfrm>
          <a:prstGeom prst="roundRect">
            <a:avLst>
              <a:gd name="adj" fmla="val 11111"/>
            </a:avLst>
          </a:prstGeom>
          <a:solidFill>
            <a:srgbClr val="172033"/>
          </a:solidFill>
          <a:ln w="12700">
            <a:solidFill>
              <a:srgbClr val="334155"/>
            </a:solidFill>
            <a:prstDash val="solid"/>
          </a:ln>
        </p:spPr>
      </p:sp>
      <p:sp>
        <p:nvSpPr>
          <p:cNvPr id="28" name="Shape 26"/>
          <p:cNvSpPr/>
          <p:nvPr/>
        </p:nvSpPr>
        <p:spPr>
          <a:xfrm>
            <a:off x="530352" y="4041648"/>
            <a:ext cx="640080" cy="292608"/>
          </a:xfrm>
          <a:prstGeom prst="roundRect">
            <a:avLst>
              <a:gd name="adj" fmla="val 12500"/>
            </a:avLst>
          </a:prstGeom>
          <a:solidFill>
            <a:srgbClr val="34D399"/>
          </a:solidFill>
          <a:ln w="12700">
            <a:solidFill>
              <a:srgbClr val="34D399"/>
            </a:solidFill>
            <a:prstDash val="solid"/>
          </a:ln>
        </p:spPr>
      </p:sp>
      <p:sp>
        <p:nvSpPr>
          <p:cNvPr id="29" name="Text 27"/>
          <p:cNvSpPr/>
          <p:nvPr/>
        </p:nvSpPr>
        <p:spPr>
          <a:xfrm>
            <a:off x="530352" y="4059936"/>
            <a:ext cx="640080" cy="256032"/>
          </a:xfrm>
          <a:prstGeom prst="rect">
            <a:avLst/>
          </a:prstGeom>
          <a:noFill/>
          <a:ln/>
        </p:spPr>
        <p:txBody>
          <a:bodyPr wrap="square" lIns="0" tIns="0" rIns="0" bIns="0" rtlCol="0" anchor="ctr"/>
          <a:lstStyle/>
          <a:p>
            <a:pPr algn="ctr" indent="0" marL="0">
              <a:buNone/>
            </a:pPr>
            <a:r>
              <a:rPr lang="en-US" sz="1000" b="1" dirty="0">
                <a:solidFill>
                  <a:srgbClr val="0B1220"/>
                </a:solidFill>
                <a:latin typeface="Calibri" pitchFamily="34" charset="0"/>
                <a:ea typeface="Calibri" pitchFamily="34" charset="-122"/>
                <a:cs typeface="Calibri" pitchFamily="34" charset="-120"/>
              </a:rPr>
              <a:t>LOW</a:t>
            </a:r>
            <a:endParaRPr lang="en-US" sz="1000" dirty="0"/>
          </a:p>
        </p:txBody>
      </p:sp>
      <p:sp>
        <p:nvSpPr>
          <p:cNvPr id="30" name="Text 28"/>
          <p:cNvSpPr/>
          <p:nvPr/>
        </p:nvSpPr>
        <p:spPr>
          <a:xfrm>
            <a:off x="1325880" y="3931920"/>
            <a:ext cx="7223760" cy="237744"/>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Stakeholder access / review lag</a:t>
            </a:r>
            <a:endParaRPr lang="en-US" sz="1300" dirty="0"/>
          </a:p>
        </p:txBody>
      </p:sp>
      <p:sp>
        <p:nvSpPr>
          <p:cNvPr id="31" name="Text 29"/>
          <p:cNvSpPr/>
          <p:nvPr/>
        </p:nvSpPr>
        <p:spPr>
          <a:xfrm>
            <a:off x="1325880" y="4169664"/>
            <a:ext cx="7223760" cy="292608"/>
          </a:xfrm>
          <a:prstGeom prst="rect">
            <a:avLst/>
          </a:prstGeom>
          <a:noFill/>
          <a:ln/>
        </p:spPr>
        <p:txBody>
          <a:bodyPr wrap="square" lIns="0" tIns="0" rIns="0" bIns="0" rtlCol="0" anchor="ctr"/>
          <a:lstStyle/>
          <a:p>
            <a:pPr indent="0" marL="0">
              <a:buNone/>
            </a:pPr>
            <a:r>
              <a:rPr lang="en-US" sz="1100" dirty="0">
                <a:solidFill>
                  <a:srgbClr val="94A3B8"/>
                </a:solidFill>
                <a:latin typeface="Calibri" pitchFamily="34" charset="0"/>
                <a:ea typeface="Calibri" pitchFamily="34" charset="-122"/>
                <a:cs typeface="Calibri" pitchFamily="34" charset="-120"/>
              </a:rPr>
              <a:t>Late SME feedback can slip narrative polish. Mitigation: share draft outline mid-July; book one review before 15 Aug.</a:t>
            </a:r>
            <a:endParaRPr lang="en-US" sz="1100" dirty="0"/>
          </a:p>
        </p:txBody>
      </p:sp>
      <p:sp>
        <p:nvSpPr>
          <p:cNvPr id="32" name="Text 30"/>
          <p:cNvSpPr/>
          <p:nvPr/>
        </p:nvSpPr>
        <p:spPr>
          <a:xfrm>
            <a:off x="7955280" y="4800600"/>
            <a:ext cx="822960" cy="228600"/>
          </a:xfrm>
          <a:prstGeom prst="rect">
            <a:avLst/>
          </a:prstGeom>
          <a:noFill/>
          <a:ln/>
        </p:spPr>
        <p:txBody>
          <a:bodyPr wrap="square" lIns="0" tIns="0" rIns="0" bIns="0" rtlCol="0" anchor="ctr"/>
          <a:lstStyle/>
          <a:p>
            <a:pPr algn="r" indent="0" marL="0">
              <a:buNone/>
            </a:pPr>
            <a:r>
              <a:rPr lang="en-US" sz="1100" dirty="0">
                <a:solidFill>
                  <a:srgbClr val="94A3B8"/>
                </a:solidFill>
                <a:latin typeface="Calibri" pitchFamily="34" charset="0"/>
                <a:ea typeface="Calibri" pitchFamily="34" charset="-122"/>
                <a:cs typeface="Calibri" pitchFamily="34" charset="-120"/>
              </a:rPr>
              <a:t>7 / 7</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Tracker Correlator — Capstone Brief</dc:title>
  <dc:subject>Company Capstone Project</dc:subject>
  <dc:creator>Thomas Rathbun, PhD</dc:creator>
  <cp:lastModifiedBy>Thomas Rathbun, PhD</cp:lastModifiedBy>
  <cp:revision>1</cp:revision>
  <dcterms:created xsi:type="dcterms:W3CDTF">2026-08-17T05:29:04Z</dcterms:created>
  <dcterms:modified xsi:type="dcterms:W3CDTF">2026-08-17T05:29:04Z</dcterms:modified>
</cp:coreProperties>
</file>