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56032"/>
            <a:ext cx="8321040" cy="256032"/>
          </a:xfrm>
          <a:prstGeom prst="rect">
            <a:avLst/>
          </a:prstGeom>
          <a:noFill/>
          <a:ln/>
        </p:spPr>
        <p:txBody>
          <a:bodyPr wrap="square" lIns="0" tIns="0" rIns="0" bIns="0"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54864"/>
            <a:ext cx="8321040" cy="182880"/>
          </a:xfrm>
          <a:prstGeom prst="rect">
            <a:avLst/>
          </a:prstGeom>
          <a:noFill/>
          <a:ln/>
        </p:spPr>
        <p:txBody>
          <a:bodyPr wrap="square" lIns="0" tIns="0" rIns="0" bIns="0" rtlCol="0" anchor="ctr"/>
          <a:lstStyle/>
          <a:p>
            <a:pPr indent="0" marL="0">
              <a:buNone/>
            </a:pPr>
            <a:r>
              <a:rPr lang="en-US" sz="900" b="1" dirty="0">
                <a:solidFill>
                  <a:srgbClr val="FECACA"/>
                </a:solidFill>
                <a:latin typeface="Calibri" pitchFamily="34" charset="0"/>
                <a:ea typeface="Calibri" pitchFamily="34" charset="-122"/>
                <a:cs typeface="Calibri" pitchFamily="34" charset="-120"/>
              </a:rPr>
              <a:t>LOCKHEED MARTIN PROPRIETARY INFORMATION</a:t>
            </a:r>
            <a:endParaRPr lang="en-US" sz="900" dirty="0"/>
          </a:p>
        </p:txBody>
      </p:sp>
      <p:sp>
        <p:nvSpPr>
          <p:cNvPr id="5" name="Text 3"/>
          <p:cNvSpPr/>
          <p:nvPr/>
        </p:nvSpPr>
        <p:spPr>
          <a:xfrm>
            <a:off x="411480" y="4919472"/>
            <a:ext cx="832104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6" name="Text 4"/>
          <p:cNvSpPr/>
          <p:nvPr/>
        </p:nvSpPr>
        <p:spPr>
          <a:xfrm>
            <a:off x="411480" y="502920"/>
            <a:ext cx="832104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Business Problem Statement</a:t>
            </a:r>
            <a:endParaRPr lang="en-US" sz="3200" dirty="0"/>
          </a:p>
        </p:txBody>
      </p:sp>
      <p:sp>
        <p:nvSpPr>
          <p:cNvPr id="7" name="Shape 5"/>
          <p:cNvSpPr/>
          <p:nvPr/>
        </p:nvSpPr>
        <p:spPr>
          <a:xfrm>
            <a:off x="411480" y="1097280"/>
            <a:ext cx="8321040" cy="1051560"/>
          </a:xfrm>
          <a:prstGeom prst="roundRect">
            <a:avLst>
              <a:gd name="adj" fmla="val 6957"/>
            </a:avLst>
          </a:prstGeom>
          <a:solidFill>
            <a:srgbClr val="172033"/>
          </a:solidFill>
          <a:ln w="12700">
            <a:solidFill>
              <a:srgbClr val="334155"/>
            </a:solidFill>
            <a:prstDash val="solid"/>
          </a:ln>
        </p:spPr>
      </p:sp>
      <p:sp>
        <p:nvSpPr>
          <p:cNvPr id="8" name="Text 6"/>
          <p:cNvSpPr/>
          <p:nvPr/>
        </p:nvSpPr>
        <p:spPr>
          <a:xfrm>
            <a:off x="594360" y="1234440"/>
            <a:ext cx="7955280" cy="822960"/>
          </a:xfrm>
          <a:prstGeom prst="rect">
            <a:avLst/>
          </a:prstGeom>
          <a:noFill/>
          <a:ln/>
        </p:spPr>
        <p:txBody>
          <a:bodyPr wrap="square" lIns="0" tIns="0" rIns="0" bIns="0" rtlCol="0" anchor="ctr"/>
          <a:lstStyle/>
          <a:p>
            <a:pPr indent="0" marL="0">
              <a:buNone/>
            </a:pPr>
            <a:r>
              <a:rPr lang="en-US" sz="1400" dirty="0">
                <a:solidFill>
                  <a:srgbClr val="A8C5E2"/>
                </a:solidFill>
                <a:latin typeface="Calibri" pitchFamily="34" charset="0"/>
                <a:ea typeface="Calibri" pitchFamily="34" charset="-122"/>
                <a:cs typeface="Calibri" pitchFamily="34" charset="-120"/>
              </a:rPr>
              <a:t>Air traffic surveillance still depends on a fragmented pipeline: each radar runs its own tracker, then a separate correlator tries to resolve duplicates across sensors. That design is costly to maintain, slow to adapt to clutter and sensor bias, and hard to scale as airspace density and multi-radar coverage grow.</a:t>
            </a:r>
            <a:endParaRPr lang="en-US" sz="1400" dirty="0"/>
          </a:p>
        </p:txBody>
      </p:sp>
      <p:sp>
        <p:nvSpPr>
          <p:cNvPr id="9" name="Shape 7"/>
          <p:cNvSpPr/>
          <p:nvPr/>
        </p:nvSpPr>
        <p:spPr>
          <a:xfrm>
            <a:off x="411480" y="2331720"/>
            <a:ext cx="2697480" cy="1965960"/>
          </a:xfrm>
          <a:prstGeom prst="roundRect">
            <a:avLst>
              <a:gd name="adj" fmla="val 3721"/>
            </a:avLst>
          </a:prstGeom>
          <a:solidFill>
            <a:srgbClr val="172033"/>
          </a:solidFill>
          <a:ln w="12700">
            <a:solidFill>
              <a:srgbClr val="334155"/>
            </a:solidFill>
            <a:prstDash val="solid"/>
          </a:ln>
        </p:spPr>
      </p:sp>
      <p:sp>
        <p:nvSpPr>
          <p:cNvPr id="10" name="Shape 8"/>
          <p:cNvSpPr/>
          <p:nvPr/>
        </p:nvSpPr>
        <p:spPr>
          <a:xfrm>
            <a:off x="411480" y="2331720"/>
            <a:ext cx="2697480" cy="73152"/>
          </a:xfrm>
          <a:prstGeom prst="rect">
            <a:avLst/>
          </a:prstGeom>
          <a:solidFill>
            <a:srgbClr val="38BDF8"/>
          </a:solidFill>
          <a:ln w="12700">
            <a:solidFill>
              <a:srgbClr val="38BDF8"/>
            </a:solidFill>
            <a:prstDash val="solid"/>
          </a:ln>
        </p:spPr>
      </p:sp>
      <p:sp>
        <p:nvSpPr>
          <p:cNvPr id="11" name="Text 9"/>
          <p:cNvSpPr/>
          <p:nvPr/>
        </p:nvSpPr>
        <p:spPr>
          <a:xfrm>
            <a:off x="576072" y="2514600"/>
            <a:ext cx="5486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01</a:t>
            </a:r>
            <a:endParaRPr lang="en-US" sz="1200" dirty="0"/>
          </a:p>
        </p:txBody>
      </p:sp>
      <p:sp>
        <p:nvSpPr>
          <p:cNvPr id="12" name="Text 10"/>
          <p:cNvSpPr/>
          <p:nvPr/>
        </p:nvSpPr>
        <p:spPr>
          <a:xfrm>
            <a:off x="576072" y="283464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Operational Complexity</a:t>
            </a:r>
            <a:endParaRPr lang="en-US" sz="1500" dirty="0"/>
          </a:p>
        </p:txBody>
      </p:sp>
      <p:sp>
        <p:nvSpPr>
          <p:cNvPr id="13" name="Text 11"/>
          <p:cNvSpPr/>
          <p:nvPr/>
        </p:nvSpPr>
        <p:spPr>
          <a:xfrm>
            <a:off x="576072" y="3200400"/>
            <a:ext cx="2377440" cy="9601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Per-sensor physics trackers plus a downstream correlator create many failure points, hand-tuned gates, and high sustainment cost for ATC and defense surveillance systems.</a:t>
            </a:r>
            <a:endParaRPr lang="en-US" sz="1200" dirty="0"/>
          </a:p>
        </p:txBody>
      </p:sp>
      <p:sp>
        <p:nvSpPr>
          <p:cNvPr id="14" name="Shape 12"/>
          <p:cNvSpPr/>
          <p:nvPr/>
        </p:nvSpPr>
        <p:spPr>
          <a:xfrm>
            <a:off x="3246120" y="2331720"/>
            <a:ext cx="2697480" cy="1965960"/>
          </a:xfrm>
          <a:prstGeom prst="roundRect">
            <a:avLst>
              <a:gd name="adj" fmla="val 3721"/>
            </a:avLst>
          </a:prstGeom>
          <a:solidFill>
            <a:srgbClr val="172033"/>
          </a:solidFill>
          <a:ln w="12700">
            <a:solidFill>
              <a:srgbClr val="334155"/>
            </a:solidFill>
            <a:prstDash val="solid"/>
          </a:ln>
        </p:spPr>
      </p:sp>
      <p:sp>
        <p:nvSpPr>
          <p:cNvPr id="15" name="Shape 13"/>
          <p:cNvSpPr/>
          <p:nvPr/>
        </p:nvSpPr>
        <p:spPr>
          <a:xfrm>
            <a:off x="3246120" y="2331720"/>
            <a:ext cx="2697480" cy="73152"/>
          </a:xfrm>
          <a:prstGeom prst="rect">
            <a:avLst/>
          </a:prstGeom>
          <a:solidFill>
            <a:srgbClr val="F59E0B"/>
          </a:solidFill>
          <a:ln w="12700">
            <a:solidFill>
              <a:srgbClr val="F59E0B"/>
            </a:solidFill>
            <a:prstDash val="solid"/>
          </a:ln>
        </p:spPr>
      </p:sp>
      <p:sp>
        <p:nvSpPr>
          <p:cNvPr id="16" name="Text 14"/>
          <p:cNvSpPr/>
          <p:nvPr/>
        </p:nvSpPr>
        <p:spPr>
          <a:xfrm>
            <a:off x="3410712" y="2514600"/>
            <a:ext cx="5486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02</a:t>
            </a:r>
            <a:endParaRPr lang="en-US" sz="1200" dirty="0"/>
          </a:p>
        </p:txBody>
      </p:sp>
      <p:sp>
        <p:nvSpPr>
          <p:cNvPr id="17" name="Text 15"/>
          <p:cNvSpPr/>
          <p:nvPr/>
        </p:nvSpPr>
        <p:spPr>
          <a:xfrm>
            <a:off x="3410712" y="283464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Fusion Ambiguity</a:t>
            </a:r>
            <a:endParaRPr lang="en-US" sz="1500" dirty="0"/>
          </a:p>
        </p:txBody>
      </p:sp>
      <p:sp>
        <p:nvSpPr>
          <p:cNvPr id="18" name="Text 16"/>
          <p:cNvSpPr/>
          <p:nvPr/>
        </p:nvSpPr>
        <p:spPr>
          <a:xfrm>
            <a:off x="3410712" y="3200400"/>
            <a:ext cx="2377440" cy="9601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PSR clutter, SSR intermittency, registration bias, and asynchronous scans produce duplicate tracks, ID switches, and degraded situation awareness in dense airspace.</a:t>
            </a:r>
            <a:endParaRPr lang="en-US" sz="1200" dirty="0"/>
          </a:p>
        </p:txBody>
      </p:sp>
      <p:sp>
        <p:nvSpPr>
          <p:cNvPr id="19" name="Shape 17"/>
          <p:cNvSpPr/>
          <p:nvPr/>
        </p:nvSpPr>
        <p:spPr>
          <a:xfrm>
            <a:off x="6080760" y="2331720"/>
            <a:ext cx="2697480" cy="1965960"/>
          </a:xfrm>
          <a:prstGeom prst="roundRect">
            <a:avLst>
              <a:gd name="adj" fmla="val 3721"/>
            </a:avLst>
          </a:prstGeom>
          <a:solidFill>
            <a:srgbClr val="172033"/>
          </a:solidFill>
          <a:ln w="12700">
            <a:solidFill>
              <a:srgbClr val="334155"/>
            </a:solidFill>
            <a:prstDash val="solid"/>
          </a:ln>
        </p:spPr>
      </p:sp>
      <p:sp>
        <p:nvSpPr>
          <p:cNvPr id="20" name="Shape 18"/>
          <p:cNvSpPr/>
          <p:nvPr/>
        </p:nvSpPr>
        <p:spPr>
          <a:xfrm>
            <a:off x="6080760" y="2331720"/>
            <a:ext cx="2697480" cy="73152"/>
          </a:xfrm>
          <a:prstGeom prst="rect">
            <a:avLst/>
          </a:prstGeom>
          <a:solidFill>
            <a:srgbClr val="38BDF8"/>
          </a:solidFill>
          <a:ln w="12700">
            <a:solidFill>
              <a:srgbClr val="38BDF8"/>
            </a:solidFill>
            <a:prstDash val="solid"/>
          </a:ln>
        </p:spPr>
      </p:sp>
      <p:sp>
        <p:nvSpPr>
          <p:cNvPr id="21" name="Text 19"/>
          <p:cNvSpPr/>
          <p:nvPr/>
        </p:nvSpPr>
        <p:spPr>
          <a:xfrm>
            <a:off x="6245352" y="2514600"/>
            <a:ext cx="5486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03</a:t>
            </a:r>
            <a:endParaRPr lang="en-US" sz="1200" dirty="0"/>
          </a:p>
        </p:txBody>
      </p:sp>
      <p:sp>
        <p:nvSpPr>
          <p:cNvPr id="22" name="Text 20"/>
          <p:cNvSpPr/>
          <p:nvPr/>
        </p:nvSpPr>
        <p:spPr>
          <a:xfrm>
            <a:off x="6245352" y="283464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Limited Adaptivity</a:t>
            </a:r>
            <a:endParaRPr lang="en-US" sz="1500" dirty="0"/>
          </a:p>
        </p:txBody>
      </p:sp>
      <p:sp>
        <p:nvSpPr>
          <p:cNvPr id="23" name="Text 21"/>
          <p:cNvSpPr/>
          <p:nvPr/>
        </p:nvSpPr>
        <p:spPr>
          <a:xfrm>
            <a:off x="6245352" y="3200400"/>
            <a:ext cx="2377440" cy="9601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Rule-based association does not learn from data. It struggles with non-linear maneuvers, modality mix (PSR/SSR), and novel clutter patterns without expert re-tuning.</a:t>
            </a:r>
            <a:endParaRPr lang="en-US" sz="1200" dirty="0"/>
          </a:p>
        </p:txBody>
      </p:sp>
      <p:sp>
        <p:nvSpPr>
          <p:cNvPr id="24" name="Text 22"/>
          <p:cNvSpPr/>
          <p:nvPr/>
        </p:nvSpPr>
        <p:spPr>
          <a:xfrm>
            <a:off x="411480" y="4526280"/>
            <a:ext cx="8321040" cy="365760"/>
          </a:xfrm>
          <a:prstGeom prst="rect">
            <a:avLst/>
          </a:prstGeom>
          <a:noFill/>
          <a:ln/>
        </p:spPr>
        <p:txBody>
          <a:bodyPr wrap="square" lIns="0" tIns="0" rIns="0" bIns="0" rtlCol="0" anchor="ctr"/>
          <a:lstStyle/>
          <a:p>
            <a:pPr indent="0" marL="0">
              <a:buNone/>
            </a:pPr>
            <a:r>
              <a:rPr lang="en-US" sz="1200" i="1" dirty="0">
                <a:solidFill>
                  <a:srgbClr val="A8C5E2"/>
                </a:solidFill>
                <a:latin typeface="Calibri" pitchFamily="34" charset="0"/>
                <a:ea typeface="Calibri" pitchFamily="34" charset="-122"/>
                <a:cs typeface="Calibri" pitchFamily="34" charset="-120"/>
              </a:rPr>
              <a:t>Opportunity:  Evaluate whether a unified AI/ML tracker-correlator can simplify the stack while meeting operational tracking quality (MOTA, ID stability, real-time fusion).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Tracker Correlator — Business Problem Statement</dc:title>
  <dc:subject>Capstone Project</dc:subject>
  <dc:creator>Thomas Rathbun, PhD</dc:creator>
  <cp:lastModifiedBy>Thomas Rathbun, PhD</cp:lastModifiedBy>
  <cp:revision>1</cp:revision>
  <dcterms:created xsi:type="dcterms:W3CDTF">2026-08-17T05:29:04Z</dcterms:created>
  <dcterms:modified xsi:type="dcterms:W3CDTF">2026-08-17T05:29:04Z</dcterms:modified>
</cp:coreProperties>
</file>